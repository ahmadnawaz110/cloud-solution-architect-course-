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  <p:sldId id="276" r:id="rId40"/>
    <p:sldId id="277" r:id="rId41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Times Neue Roman" charset="1" panose="00000500000000000000"/>
      <p:regular r:id="rId10"/>
    </p:embeddedFont>
    <p:embeddedFont>
      <p:font typeface="Times Neue Roman Bold" charset="1" panose="00000800000000000000"/>
      <p:regular r:id="rId11"/>
    </p:embeddedFont>
    <p:embeddedFont>
      <p:font typeface="Times Neue Roman Italics" charset="1" panose="00000500000000000000"/>
      <p:regular r:id="rId12"/>
    </p:embeddedFont>
    <p:embeddedFont>
      <p:font typeface="Times Neue Roman Bold Italics" charset="1" panose="00000800000000000000"/>
      <p:regular r:id="rId13"/>
    </p:embeddedFont>
    <p:embeddedFont>
      <p:font typeface="Vesper Libre Regular" charset="1" panose="00000500000000000000"/>
      <p:regular r:id="rId14"/>
    </p:embeddedFont>
    <p:embeddedFont>
      <p:font typeface="Vesper Libre Regular Bold" charset="1" panose="00000600000000000000"/>
      <p:regular r:id="rId15"/>
    </p:embeddedFont>
    <p:embeddedFont>
      <p:font typeface="29LT Zarid Text" charset="1" panose="00000500000000000000"/>
      <p:regular r:id="rId16"/>
    </p:embeddedFont>
    <p:embeddedFont>
      <p:font typeface="29LT Zarid Text Bold" charset="1" panose="00000800000000000000"/>
      <p:regular r:id="rId17"/>
    </p:embeddedFont>
    <p:embeddedFont>
      <p:font typeface="29LT Zarid Text Italics" charset="1" panose="00000500000000000000"/>
      <p:regular r:id="rId18"/>
    </p:embeddedFont>
    <p:embeddedFont>
      <p:font typeface="29LT Zarid Text Bold Italics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slides/slide1.xml" Type="http://schemas.openxmlformats.org/officeDocument/2006/relationships/slide"/><Relationship Id="rId21" Target="slides/slide2.xml" Type="http://schemas.openxmlformats.org/officeDocument/2006/relationships/slide"/><Relationship Id="rId22" Target="slides/slide3.xml" Type="http://schemas.openxmlformats.org/officeDocument/2006/relationships/slide"/><Relationship Id="rId23" Target="slides/slide4.xml" Type="http://schemas.openxmlformats.org/officeDocument/2006/relationships/slide"/><Relationship Id="rId24" Target="slides/slide5.xml" Type="http://schemas.openxmlformats.org/officeDocument/2006/relationships/slide"/><Relationship Id="rId25" Target="slides/slide6.xml" Type="http://schemas.openxmlformats.org/officeDocument/2006/relationships/slide"/><Relationship Id="rId26" Target="slides/slide7.xml" Type="http://schemas.openxmlformats.org/officeDocument/2006/relationships/slide"/><Relationship Id="rId27" Target="slides/slide8.xml" Type="http://schemas.openxmlformats.org/officeDocument/2006/relationships/slide"/><Relationship Id="rId28" Target="slides/slide9.xml" Type="http://schemas.openxmlformats.org/officeDocument/2006/relationships/slide"/><Relationship Id="rId29" Target="slides/slide10.xml" Type="http://schemas.openxmlformats.org/officeDocument/2006/relationships/slide"/><Relationship Id="rId3" Target="viewProps.xml" Type="http://schemas.openxmlformats.org/officeDocument/2006/relationships/viewProps"/><Relationship Id="rId30" Target="slides/slide11.xml" Type="http://schemas.openxmlformats.org/officeDocument/2006/relationships/slide"/><Relationship Id="rId31" Target="slides/slide12.xml" Type="http://schemas.openxmlformats.org/officeDocument/2006/relationships/slide"/><Relationship Id="rId32" Target="slides/slide13.xml" Type="http://schemas.openxmlformats.org/officeDocument/2006/relationships/slide"/><Relationship Id="rId33" Target="slides/slide14.xml" Type="http://schemas.openxmlformats.org/officeDocument/2006/relationships/slide"/><Relationship Id="rId34" Target="slides/slide15.xml" Type="http://schemas.openxmlformats.org/officeDocument/2006/relationships/slide"/><Relationship Id="rId35" Target="slides/slide16.xml" Type="http://schemas.openxmlformats.org/officeDocument/2006/relationships/slide"/><Relationship Id="rId36" Target="slides/slide17.xml" Type="http://schemas.openxmlformats.org/officeDocument/2006/relationships/slide"/><Relationship Id="rId37" Target="slides/slide18.xml" Type="http://schemas.openxmlformats.org/officeDocument/2006/relationships/slide"/><Relationship Id="rId38" Target="slides/slide19.xml" Type="http://schemas.openxmlformats.org/officeDocument/2006/relationships/slide"/><Relationship Id="rId39" Target="slides/slide20.xml" Type="http://schemas.openxmlformats.org/officeDocument/2006/relationships/slide"/><Relationship Id="rId4" Target="theme/theme1.xml" Type="http://schemas.openxmlformats.org/officeDocument/2006/relationships/theme"/><Relationship Id="rId40" Target="slides/slide21.xml" Type="http://schemas.openxmlformats.org/officeDocument/2006/relationships/slide"/><Relationship Id="rId41" Target="slides/slide22.xml" Type="http://schemas.openxmlformats.org/officeDocument/2006/relationships/slid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697355"/>
            <a:ext cx="13889942" cy="1316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080"/>
              </a:lnSpc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Cloud Solution Architect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54250" y="3658453"/>
            <a:ext cx="16105050" cy="375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774"/>
              </a:lnSpc>
            </a:pPr>
            <a:r>
              <a:rPr lang="en-US" sz="5499">
                <a:solidFill>
                  <a:srgbClr val="250542"/>
                </a:solidFill>
                <a:latin typeface="29LT Zarid Text"/>
              </a:rPr>
              <a:t>Module 3</a:t>
            </a:r>
          </a:p>
          <a:p>
            <a:pPr>
              <a:lnSpc>
                <a:spcPts val="5774"/>
              </a:lnSpc>
            </a:pPr>
            <a:r>
              <a:rPr lang="en-US" sz="5499">
                <a:solidFill>
                  <a:srgbClr val="250542"/>
                </a:solidFill>
                <a:latin typeface="29LT Zarid Text"/>
              </a:rPr>
              <a:t>Lecture 9</a:t>
            </a:r>
          </a:p>
          <a:p>
            <a:pPr>
              <a:lnSpc>
                <a:spcPts val="5774"/>
              </a:lnSpc>
            </a:pPr>
          </a:p>
          <a:p>
            <a:pPr marL="0" indent="0" lvl="0">
              <a:lnSpc>
                <a:spcPts val="5565"/>
              </a:lnSpc>
            </a:pPr>
            <a:r>
              <a:rPr lang="en-US" sz="5300">
                <a:solidFill>
                  <a:srgbClr val="250542"/>
                </a:solidFill>
                <a:latin typeface="29LT Zarid Text"/>
              </a:rPr>
              <a:t>Cloud Computing Infrastructure, AWS, GCP, Azure interface overview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95400"/>
            <a:ext cx="12461932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Recap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23744"/>
            <a:ext cx="8115300" cy="66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97"/>
              </a:lnSpc>
              <a:spcBef>
                <a:spcPct val="0"/>
              </a:spcBef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Module 2 - Lecture 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698875"/>
            <a:ext cx="16636286" cy="280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SSH server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Firewall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Iptables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web server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95400"/>
            <a:ext cx="12461932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Learning 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23744"/>
            <a:ext cx="8115300" cy="66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97"/>
              </a:lnSpc>
              <a:spcBef>
                <a:spcPct val="0"/>
              </a:spcBef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Module 3 - Lecture 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698875"/>
            <a:ext cx="16636286" cy="280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Cloud Infrastructure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AWS Interface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GCP Interface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Azure Interface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02079"/>
            <a:ext cx="12471853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Cloud Infrastructure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3085" y="3439792"/>
            <a:ext cx="16406215" cy="400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Hardware and Software components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servers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storage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networking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virtualization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services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management tools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02079"/>
            <a:ext cx="12471853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Hardware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3085" y="4582792"/>
            <a:ext cx="16406215" cy="286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Hardware components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servers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Firewalls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Switches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Routers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02079"/>
            <a:ext cx="12471853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Storage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3085" y="2655586"/>
            <a:ext cx="16406215" cy="629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 Bold"/>
              </a:rPr>
              <a:t>Block Storage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Block-level storage is a concept in cloud-hosted data persistence where cloud services emulate the behavior of a traditional block device, such as a physical hard drive. It is a form of network-attached storage. Storage in such services is organized as blocks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 Bold"/>
              </a:rPr>
              <a:t>File Storage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data is saved in files and folders, and presented to both the system storing it and the system retrieving it in the same format.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 Bold"/>
              </a:rPr>
              <a:t>Object Storage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Object storage is a computer data storage architecture that manages data as objects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02079"/>
            <a:ext cx="12471853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Networking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3085" y="2011042"/>
            <a:ext cx="16406215" cy="629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LAN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a computer network that interconnects computers within a limited area such as a residence, school, laboratory, university campus or office building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WAN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A wide area network is a telecommunications network that extends over a large geographic area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MAN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A metropolitan area network is a computer network that interconnects users with computer resources in a geographic region of the size of a metropolitan area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02079"/>
            <a:ext cx="12471853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Virtualization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3085" y="2296792"/>
            <a:ext cx="16406215" cy="572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Paravirtualization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a virtualization technique that presents a software interface to the virtual machines which is similar, yet not identical, to the underlying hardware-software interface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Full Virtualization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a virtualization technique used to provide a VME that completely simulates the underlying hardware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Server Virtualization</a:t>
            </a:r>
          </a:p>
          <a:p>
            <a:pPr marL="1727464" indent="-575821" lvl="2">
              <a:lnSpc>
                <a:spcPts val="4520"/>
              </a:lnSpc>
              <a:buFont typeface="Arial"/>
              <a:buChar char="⚬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the process of creating multiple server instances from one physical server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02079"/>
            <a:ext cx="12471853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Services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3085" y="2712128"/>
            <a:ext cx="16406215" cy="172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IaaS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PaaS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SaaS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478060" y="2408727"/>
            <a:ext cx="15331881" cy="7640387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802079"/>
            <a:ext cx="12471853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Management Tools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128718" y="6779951"/>
            <a:ext cx="4130582" cy="2478349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802079"/>
            <a:ext cx="16230600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AWS - Interface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00347" y="2220923"/>
            <a:ext cx="16758953" cy="400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Amazon Web Services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A subsidiary of Amazon that provides on-demand cloud computing platforms</a:t>
            </a:r>
          </a:p>
          <a:p>
            <a:pPr>
              <a:lnSpc>
                <a:spcPts val="4520"/>
              </a:lnSpc>
            </a:pPr>
          </a:p>
          <a:p>
            <a:pPr>
              <a:lnSpc>
                <a:spcPts val="4520"/>
              </a:lnSpc>
            </a:pPr>
          </a:p>
          <a:p>
            <a:pPr>
              <a:lnSpc>
                <a:spcPts val="4520"/>
              </a:lnSpc>
            </a:pPr>
          </a:p>
          <a:p>
            <a:pPr>
              <a:lnSpc>
                <a:spcPts val="4520"/>
              </a:lnSpc>
            </a:pPr>
            <a:r>
              <a:rPr lang="en-US" u="sng" sz="4000">
                <a:solidFill>
                  <a:srgbClr val="250542"/>
                </a:solidFill>
                <a:latin typeface="Vesper Libre Regular"/>
              </a:rPr>
              <a:t>https://aws.amazon.com/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02079"/>
            <a:ext cx="16230600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AWS Services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1371" y="3439792"/>
            <a:ext cx="16447929" cy="3435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EC2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S3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RDS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EBS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EFS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VPC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3085" y="2220923"/>
            <a:ext cx="16406215" cy="457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Offered by Google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A suite of cloud computing services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Runs on the same infrastructure that Google uses internally for its end-user products like google drive, gmail etc</a:t>
            </a:r>
          </a:p>
          <a:p>
            <a:pPr>
              <a:lnSpc>
                <a:spcPts val="4520"/>
              </a:lnSpc>
            </a:pPr>
          </a:p>
          <a:p>
            <a:pPr>
              <a:lnSpc>
                <a:spcPts val="4520"/>
              </a:lnSpc>
            </a:pPr>
          </a:p>
          <a:p>
            <a:pPr>
              <a:lnSpc>
                <a:spcPts val="4520"/>
              </a:lnSpc>
            </a:pPr>
          </a:p>
          <a:p>
            <a:pPr>
              <a:lnSpc>
                <a:spcPts val="4520"/>
              </a:lnSpc>
            </a:pPr>
            <a:r>
              <a:rPr lang="en-US" u="sng" sz="4000">
                <a:solidFill>
                  <a:srgbClr val="250542"/>
                </a:solidFill>
                <a:latin typeface="Vesper Libre Regular"/>
              </a:rPr>
              <a:t>https://cloud.google.com/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0893244" y="5656990"/>
            <a:ext cx="6366056" cy="360131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802079"/>
            <a:ext cx="12471853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GCP Interface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02079"/>
            <a:ext cx="16230600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GCP Services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1371" y="4011292"/>
            <a:ext cx="16447929" cy="2864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Google Compute Engine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Google Storage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Cloud SQL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GCP Cloud Storage Nearline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VPC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3085" y="2792423"/>
            <a:ext cx="16406215" cy="400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Offered by Microsoft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a cloud computing service operated by Microsoft for application management via Microsoft-managed data centers</a:t>
            </a:r>
          </a:p>
          <a:p>
            <a:pPr>
              <a:lnSpc>
                <a:spcPts val="4520"/>
              </a:lnSpc>
            </a:pPr>
          </a:p>
          <a:p>
            <a:pPr>
              <a:lnSpc>
                <a:spcPts val="4520"/>
              </a:lnSpc>
            </a:pPr>
          </a:p>
          <a:p>
            <a:pPr>
              <a:lnSpc>
                <a:spcPts val="4520"/>
              </a:lnSpc>
            </a:pPr>
          </a:p>
          <a:p>
            <a:pPr>
              <a:lnSpc>
                <a:spcPts val="4520"/>
              </a:lnSpc>
            </a:pPr>
            <a:r>
              <a:rPr lang="en-US" u="sng" sz="4000">
                <a:solidFill>
                  <a:srgbClr val="250542"/>
                </a:solidFill>
                <a:latin typeface="Vesper Libre Regular"/>
              </a:rPr>
              <a:t>https://azure.microsoft.com/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9310389" y="6960342"/>
            <a:ext cx="7948911" cy="2297958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802079"/>
            <a:ext cx="16230600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Azure Interface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02079"/>
            <a:ext cx="16230600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Azure Services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1371" y="3439792"/>
            <a:ext cx="16447929" cy="3435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VM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Blob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SQL Database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Glacier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File Storage</a:t>
            </a:r>
          </a:p>
          <a:p>
            <a:pPr marL="863732" indent="-431866" lvl="1">
              <a:lnSpc>
                <a:spcPts val="4520"/>
              </a:lnSpc>
              <a:buFont typeface="Arial"/>
              <a:buChar char="•"/>
            </a:pPr>
            <a:r>
              <a:rPr lang="en-US" sz="4000">
                <a:solidFill>
                  <a:srgbClr val="250542"/>
                </a:solidFill>
                <a:latin typeface="Vesper Libre Regular"/>
              </a:rPr>
              <a:t>VPC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551858" y="2192348"/>
            <a:ext cx="15184284" cy="773449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802079"/>
            <a:ext cx="16230600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Cloud Services Comparison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418688" y="2192348"/>
            <a:ext cx="15450625" cy="7900888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802079"/>
            <a:ext cx="16230600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Market Share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746900" y="3324303"/>
            <a:ext cx="3638395" cy="3638395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5936514" y="4314354"/>
            <a:ext cx="6414973" cy="1658292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3455295" y="3241498"/>
            <a:ext cx="3804005" cy="3804005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028700" y="802079"/>
            <a:ext cx="16230600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Other Cloud Platforms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95400"/>
            <a:ext cx="12461932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Learning 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23744"/>
            <a:ext cx="8115300" cy="66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97"/>
              </a:lnSpc>
              <a:spcBef>
                <a:spcPct val="0"/>
              </a:spcBef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Module 3 - Lecture 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698875"/>
            <a:ext cx="16636286" cy="280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Cloud Infrastructure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AWS Interface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GCP Interface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Azure Interface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95400"/>
            <a:ext cx="12461932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Next Lecture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74709"/>
            <a:ext cx="8115300" cy="66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197"/>
              </a:lnSpc>
              <a:spcBef>
                <a:spcPct val="0"/>
              </a:spcBef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Module 3 - Lecture 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5857" y="3698875"/>
            <a:ext cx="16636286" cy="280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AWS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Identity and Access Management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IAM Roles</a:t>
            </a:r>
          </a:p>
          <a:p>
            <a:pPr algn="just" marL="863603" indent="-431801" lvl="1">
              <a:lnSpc>
                <a:spcPts val="5600"/>
              </a:lnSpc>
              <a:buFont typeface="Arial"/>
              <a:buChar char="•"/>
            </a:pPr>
            <a:r>
              <a:rPr lang="en-US" spc="-40" sz="4000">
                <a:solidFill>
                  <a:srgbClr val="250542"/>
                </a:solidFill>
                <a:latin typeface="Times Neue Roman"/>
              </a:rPr>
              <a:t>Creating basic VMs (EC2)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05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2131835" y="504814"/>
            <a:ext cx="13790991" cy="9102054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4898073" y="4287945"/>
            <a:ext cx="8404922" cy="1472586"/>
            <a:chOff x="0" y="0"/>
            <a:chExt cx="1302142" cy="228142"/>
          </a:xfrm>
        </p:grpSpPr>
        <p:sp>
          <p:nvSpPr>
            <p:cNvPr name="Freeform 4" id="4"/>
            <p:cNvSpPr/>
            <p:nvPr/>
          </p:nvSpPr>
          <p:spPr>
            <a:xfrm>
              <a:off x="0" y="0"/>
              <a:ext cx="1302142" cy="228142"/>
            </a:xfrm>
            <a:custGeom>
              <a:avLst/>
              <a:gdLst/>
              <a:ahLst/>
              <a:cxnLst/>
              <a:rect r="r" b="b" t="t" l="l"/>
              <a:pathLst>
                <a:path h="228142" w="1302142">
                  <a:moveTo>
                    <a:pt x="0" y="0"/>
                  </a:moveTo>
                  <a:lnTo>
                    <a:pt x="1302142" y="0"/>
                  </a:lnTo>
                  <a:lnTo>
                    <a:pt x="1302142" y="228142"/>
                  </a:lnTo>
                  <a:lnTo>
                    <a:pt x="0" y="228142"/>
                  </a:lnTo>
                  <a:close/>
                </a:path>
              </a:pathLst>
            </a:custGeom>
            <a:solidFill>
              <a:srgbClr val="25054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8128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97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4583619"/>
            <a:ext cx="16230600" cy="117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53"/>
              </a:lnSpc>
              <a:spcBef>
                <a:spcPct val="0"/>
              </a:spcBef>
            </a:pPr>
            <a:r>
              <a:rPr lang="en-US" sz="8100">
                <a:solidFill>
                  <a:srgbClr val="D9D9D9"/>
                </a:solidFill>
                <a:latin typeface="Vesper Libre Regular Bold"/>
              </a:rPr>
              <a:t>Ask Questions!!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DAFAjzE1GZg</dc:identifier>
  <dcterms:modified xsi:type="dcterms:W3CDTF">2011-08-01T06:04:30Z</dcterms:modified>
  <cp:revision>1</cp:revision>
  <dc:title>CSA-lecture 9</dc:title>
</cp:coreProperties>
</file>