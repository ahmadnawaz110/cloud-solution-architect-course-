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6858000" cy="9144000"/>
  <p:embeddedFontLst>
    <p:embeddedFont>
      <p:font typeface="Vesper Libre Regular" charset="0"/>
      <p:regular r:id="rId27"/>
    </p:embeddedFont>
    <p:embeddedFont>
      <p:font typeface="Calibri" pitchFamily="34" charset="0"/>
      <p:regular r:id="rId28"/>
      <p:bold r:id="rId29"/>
      <p:italic r:id="rId30"/>
      <p:boldItalic r:id="rId31"/>
    </p:embeddedFont>
    <p:embeddedFont>
      <p:font typeface="Times Neue Roman" charset="0"/>
      <p:regular r:id="rId32"/>
    </p:embeddedFont>
    <p:embeddedFont>
      <p:font typeface="Vesper Libre Regular Bold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4767" autoAdjust="0"/>
  </p:normalViewPr>
  <p:slideViewPr>
    <p:cSldViewPr>
      <p:cViewPr varScale="1">
        <p:scale>
          <a:sx n="41" d="100"/>
          <a:sy n="41" d="100"/>
        </p:scale>
        <p:origin x="-105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86F25C-35C1-47DA-AA68-584DDDA708F0}" type="datetimeFigureOut">
              <a:rPr lang="en-US" smtClean="0"/>
              <a:t>5/15/2022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88EF7E-7992-460D-B362-B502FB79FA6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Cloud computing transforms IT </a:t>
            </a:r>
            <a:r>
              <a:rPr lang="en-US" sz="1200" b="0" i="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infrastructure into a utility: 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lets you ‘plug into' infrastructure </a:t>
            </a:r>
            <a:r>
              <a:rPr lang="en-US" sz="1200" b="0" i="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via the internet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use computing resources </a:t>
            </a:r>
            <a:r>
              <a:rPr lang="en-US" sz="1200" b="0" i="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without installing and maintaining them on-premises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88EF7E-7992-460D-B362-B502FB79FA67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9283253" y="2953702"/>
            <a:ext cx="8603289" cy="6304598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1738313"/>
            <a:ext cx="13889942" cy="121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9239"/>
              </a:lnSpc>
            </a:pPr>
            <a:r>
              <a:rPr lang="en-US" sz="8799">
                <a:solidFill>
                  <a:srgbClr val="250542"/>
                </a:solidFill>
                <a:latin typeface="Vesper Libre Regular"/>
              </a:rPr>
              <a:t>Cloud Solution Architect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54250" y="3214688"/>
            <a:ext cx="8360491" cy="379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774"/>
              </a:lnSpc>
            </a:pPr>
            <a:r>
              <a:rPr lang="en-US" sz="5499">
                <a:solidFill>
                  <a:srgbClr val="250542"/>
                </a:solidFill>
                <a:latin typeface="29LT Zarid Text"/>
              </a:rPr>
              <a:t>Module 1</a:t>
            </a:r>
          </a:p>
          <a:p>
            <a:pPr>
              <a:lnSpc>
                <a:spcPts val="5774"/>
              </a:lnSpc>
            </a:pPr>
            <a:r>
              <a:rPr lang="en-US" sz="5499">
                <a:solidFill>
                  <a:srgbClr val="250542"/>
                </a:solidFill>
                <a:latin typeface="29LT Zarid Text"/>
              </a:rPr>
              <a:t>Lecture 1</a:t>
            </a:r>
          </a:p>
          <a:p>
            <a:pPr>
              <a:lnSpc>
                <a:spcPts val="5774"/>
              </a:lnSpc>
            </a:pPr>
            <a:endParaRPr/>
          </a:p>
          <a:p>
            <a:pPr>
              <a:lnSpc>
                <a:spcPts val="5774"/>
              </a:lnSpc>
            </a:pPr>
            <a:r>
              <a:rPr lang="en-US" sz="5499">
                <a:solidFill>
                  <a:srgbClr val="250542"/>
                </a:solidFill>
                <a:latin typeface="29LT Zarid Text"/>
              </a:rPr>
              <a:t>Course Orientation</a:t>
            </a:r>
          </a:p>
          <a:p>
            <a:pPr marL="0" lvl="0" indent="0">
              <a:lnSpc>
                <a:spcPts val="5774"/>
              </a:lnSpc>
            </a:pPr>
            <a:r>
              <a:rPr lang="en-US" sz="5499">
                <a:solidFill>
                  <a:srgbClr val="250542"/>
                </a:solidFill>
                <a:latin typeface="29LT Zarid Text"/>
              </a:rPr>
              <a:t>Introduction to Cloud Computing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3014" y="4193251"/>
            <a:ext cx="16636286" cy="2872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603" lvl="1" indent="-431801" algn="just">
              <a:lnSpc>
                <a:spcPts val="5600"/>
              </a:lnSpc>
              <a:buFont typeface="Arial"/>
              <a:buChar char="•"/>
            </a:pPr>
            <a:r>
              <a:rPr lang="en-US" sz="4000" spc="-40" dirty="0">
                <a:solidFill>
                  <a:srgbClr val="250542"/>
                </a:solidFill>
                <a:latin typeface="Times Neue Roman"/>
              </a:rPr>
              <a:t>Senior </a:t>
            </a:r>
            <a:r>
              <a:rPr lang="en-US" sz="4000" spc="-40" dirty="0" err="1">
                <a:solidFill>
                  <a:srgbClr val="250542"/>
                </a:solidFill>
                <a:latin typeface="Times Neue Roman"/>
              </a:rPr>
              <a:t>DevOps</a:t>
            </a:r>
            <a:r>
              <a:rPr lang="en-US" sz="4000" spc="-40" dirty="0">
                <a:solidFill>
                  <a:srgbClr val="250542"/>
                </a:solidFill>
                <a:latin typeface="Times Neue Roman"/>
              </a:rPr>
              <a:t> </a:t>
            </a:r>
            <a:r>
              <a:rPr lang="en-US" sz="4000" spc="-40" dirty="0" smtClean="0">
                <a:solidFill>
                  <a:srgbClr val="250542"/>
                </a:solidFill>
                <a:latin typeface="Times Neue Roman"/>
              </a:rPr>
              <a:t>Manager </a:t>
            </a:r>
            <a:r>
              <a:rPr lang="en-US" sz="4000" spc="-40" dirty="0">
                <a:solidFill>
                  <a:srgbClr val="250542"/>
                </a:solidFill>
                <a:latin typeface="Times Neue Roman"/>
              </a:rPr>
              <a:t>at </a:t>
            </a:r>
            <a:r>
              <a:rPr lang="en-US" sz="4000" spc="-40" dirty="0" err="1">
                <a:solidFill>
                  <a:srgbClr val="250542"/>
                </a:solidFill>
                <a:latin typeface="Times Neue Roman"/>
              </a:rPr>
              <a:t>OpenWare</a:t>
            </a:r>
            <a:r>
              <a:rPr lang="en-US" sz="4000" spc="-40" dirty="0">
                <a:solidFill>
                  <a:srgbClr val="250542"/>
                </a:solidFill>
                <a:latin typeface="Times Neue Roman"/>
              </a:rPr>
              <a:t> Business </a:t>
            </a:r>
            <a:r>
              <a:rPr lang="en-US" sz="4000" spc="-40" dirty="0" err="1">
                <a:solidFill>
                  <a:srgbClr val="250542"/>
                </a:solidFill>
                <a:latin typeface="Times Neue Roman"/>
              </a:rPr>
              <a:t>Pvt</a:t>
            </a:r>
            <a:r>
              <a:rPr lang="en-US" sz="4000" spc="-40" dirty="0">
                <a:solidFill>
                  <a:srgbClr val="250542"/>
                </a:solidFill>
                <a:latin typeface="Times Neue Roman"/>
              </a:rPr>
              <a:t> </a:t>
            </a:r>
            <a:r>
              <a:rPr lang="en-US" sz="4000" spc="-40" dirty="0" smtClean="0">
                <a:solidFill>
                  <a:srgbClr val="250542"/>
                </a:solidFill>
                <a:latin typeface="Times Neue Roman"/>
              </a:rPr>
              <a:t>Ltd</a:t>
            </a:r>
          </a:p>
          <a:p>
            <a:pPr marL="863603" lvl="1" indent="-431801" algn="just">
              <a:lnSpc>
                <a:spcPts val="5600"/>
              </a:lnSpc>
              <a:buFont typeface="Arial"/>
              <a:buChar char="•"/>
            </a:pPr>
            <a:r>
              <a:rPr lang="en-US" sz="4000" spc="-40" dirty="0" smtClean="0">
                <a:solidFill>
                  <a:srgbClr val="250542"/>
                </a:solidFill>
                <a:latin typeface="Times Neue Roman"/>
              </a:rPr>
              <a:t>IT Enthusiast / Top Rated Freelancer / Consultant / Entrepreneur  </a:t>
            </a:r>
          </a:p>
          <a:p>
            <a:pPr marL="863601" lvl="1" indent="-431801" algn="just">
              <a:lnSpc>
                <a:spcPts val="5600"/>
              </a:lnSpc>
              <a:buFont typeface="Arial"/>
              <a:buChar char="•"/>
            </a:pPr>
            <a:r>
              <a:rPr lang="en-US" sz="4000" spc="-40" dirty="0" smtClean="0">
                <a:solidFill>
                  <a:srgbClr val="250542"/>
                </a:solidFill>
                <a:latin typeface="Times Neue Roman"/>
              </a:rPr>
              <a:t>Member </a:t>
            </a:r>
            <a:r>
              <a:rPr lang="en-US" sz="4000" spc="-40" dirty="0">
                <a:solidFill>
                  <a:srgbClr val="250542"/>
                </a:solidFill>
                <a:latin typeface="Times Neue Roman"/>
              </a:rPr>
              <a:t>Open Source Foundation of </a:t>
            </a:r>
            <a:r>
              <a:rPr lang="en-US" sz="4000" spc="-40" dirty="0" smtClean="0">
                <a:solidFill>
                  <a:srgbClr val="250542"/>
                </a:solidFill>
                <a:latin typeface="Times Neue Roman"/>
              </a:rPr>
              <a:t>Pakistan</a:t>
            </a:r>
          </a:p>
          <a:p>
            <a:pPr marL="863601" lvl="1" indent="-431801" algn="just">
              <a:lnSpc>
                <a:spcPts val="5600"/>
              </a:lnSpc>
              <a:buFont typeface="Arial"/>
              <a:buChar char="•"/>
            </a:pPr>
            <a:endParaRPr lang="en-US" sz="4000" spc="-40" dirty="0">
              <a:solidFill>
                <a:srgbClr val="250542"/>
              </a:solidFill>
              <a:latin typeface="Times Neue Rom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1171575"/>
            <a:ext cx="15773855" cy="1340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0080"/>
              </a:lnSpc>
              <a:spcBef>
                <a:spcPct val="0"/>
              </a:spcBef>
            </a:pPr>
            <a:r>
              <a:rPr lang="en-US" sz="9600" dirty="0" err="1" smtClean="0">
                <a:solidFill>
                  <a:srgbClr val="250542"/>
                </a:solidFill>
                <a:latin typeface="Vesper Libre Regular"/>
              </a:rPr>
              <a:t>Syed</a:t>
            </a:r>
            <a:r>
              <a:rPr lang="en-US" sz="9600" dirty="0" smtClean="0">
                <a:solidFill>
                  <a:srgbClr val="250542"/>
                </a:solidFill>
                <a:latin typeface="Vesper Libre Regular"/>
              </a:rPr>
              <a:t> </a:t>
            </a:r>
            <a:r>
              <a:rPr lang="en-US" sz="9600" dirty="0" err="1" smtClean="0">
                <a:solidFill>
                  <a:srgbClr val="250542"/>
                </a:solidFill>
                <a:latin typeface="Vesper Libre Regular"/>
              </a:rPr>
              <a:t>Imran</a:t>
            </a:r>
            <a:r>
              <a:rPr lang="en-US" sz="9600" dirty="0" smtClean="0">
                <a:solidFill>
                  <a:srgbClr val="250542"/>
                </a:solidFill>
                <a:latin typeface="Vesper Libre Regular"/>
              </a:rPr>
              <a:t> </a:t>
            </a:r>
            <a:r>
              <a:rPr lang="en-US" sz="9600" dirty="0" err="1" smtClean="0">
                <a:solidFill>
                  <a:srgbClr val="250542"/>
                </a:solidFill>
                <a:latin typeface="Vesper Libre Regular"/>
              </a:rPr>
              <a:t>Hussain</a:t>
            </a:r>
            <a:endParaRPr lang="en-US" sz="9600" dirty="0">
              <a:solidFill>
                <a:srgbClr val="250542"/>
              </a:solidFill>
              <a:latin typeface="Vesper Libre Regular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66800" y="2476500"/>
            <a:ext cx="15773855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5040"/>
              </a:lnSpc>
              <a:spcBef>
                <a:spcPct val="0"/>
              </a:spcBef>
            </a:pPr>
            <a:r>
              <a:rPr lang="en-US" sz="4800" dirty="0">
                <a:solidFill>
                  <a:srgbClr val="250542"/>
                </a:solidFill>
                <a:latin typeface="Vesper Libre Regular"/>
              </a:rPr>
              <a:t>Trainer's 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2286000" y="3314700"/>
          <a:ext cx="12344400" cy="5029200"/>
        </p:xfrm>
        <a:graphic>
          <a:graphicData uri="http://schemas.openxmlformats.org/drawingml/2006/table">
            <a:tbl>
              <a:tblPr/>
              <a:tblGrid>
                <a:gridCol w="6412675"/>
                <a:gridCol w="5931725"/>
              </a:tblGrid>
              <a:tr h="84570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4000" b="1" kern="1200" dirty="0" smtClean="0">
                          <a:solidFill>
                            <a:srgbClr val="250542"/>
                          </a:solidFill>
                          <a:latin typeface="Vesper Libre Regular"/>
                          <a:ea typeface="+mn-ea"/>
                          <a:cs typeface="+mn-cs"/>
                        </a:rPr>
                        <a:t>Session</a:t>
                      </a:r>
                      <a:endParaRPr lang="en-US" sz="4000" b="1" kern="1200" dirty="0">
                        <a:solidFill>
                          <a:srgbClr val="250542"/>
                        </a:solidFill>
                        <a:latin typeface="Vesper Libre Regular"/>
                        <a:ea typeface="+mn-ea"/>
                        <a:cs typeface="+mn-cs"/>
                      </a:endParaRPr>
                    </a:p>
                  </a:txBody>
                  <a:tcPr>
                    <a:lnL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4000" b="1" kern="1200" dirty="0" smtClean="0">
                          <a:solidFill>
                            <a:srgbClr val="250542"/>
                          </a:solidFill>
                          <a:latin typeface="Vesper Libre Regular"/>
                          <a:ea typeface="+mn-ea"/>
                          <a:cs typeface="+mn-cs"/>
                        </a:rPr>
                        <a:t>Hours Per Week</a:t>
                      </a:r>
                    </a:p>
                  </a:txBody>
                  <a:tcPr>
                    <a:lnL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570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4000" kern="1200" dirty="0" smtClean="0">
                          <a:solidFill>
                            <a:srgbClr val="250542"/>
                          </a:solidFill>
                          <a:latin typeface="Vesper Libre Regular"/>
                          <a:ea typeface="+mn-ea"/>
                          <a:cs typeface="+mn-cs"/>
                        </a:rPr>
                        <a:t>Theory</a:t>
                      </a:r>
                    </a:p>
                  </a:txBody>
                  <a:tcPr>
                    <a:lnL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4000" kern="1200" dirty="0" smtClean="0">
                          <a:solidFill>
                            <a:srgbClr val="250542"/>
                          </a:solidFill>
                          <a:latin typeface="Vesper Libre Regular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570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4000" kern="1200" dirty="0" smtClean="0">
                          <a:solidFill>
                            <a:srgbClr val="250542"/>
                          </a:solidFill>
                          <a:latin typeface="Vesper Libre Regular"/>
                          <a:ea typeface="+mn-ea"/>
                          <a:cs typeface="+mn-cs"/>
                        </a:rPr>
                        <a:t>Lab</a:t>
                      </a:r>
                    </a:p>
                  </a:txBody>
                  <a:tcPr>
                    <a:lnL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4000" kern="1200" dirty="0" smtClean="0">
                          <a:solidFill>
                            <a:srgbClr val="250542"/>
                          </a:solidFill>
                          <a:latin typeface="Vesper Libre Regular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5702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4000" kern="1200" dirty="0" smtClean="0">
                          <a:solidFill>
                            <a:srgbClr val="250542"/>
                          </a:solidFill>
                          <a:latin typeface="Vesper Libre Regular"/>
                          <a:ea typeface="+mn-ea"/>
                          <a:cs typeface="+mn-cs"/>
                        </a:rPr>
                        <a:t>Office hours </a:t>
                      </a:r>
                    </a:p>
                  </a:txBody>
                  <a:tcPr>
                    <a:lnL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4000" kern="1200" dirty="0" smtClean="0">
                          <a:solidFill>
                            <a:srgbClr val="250542"/>
                          </a:solidFill>
                          <a:latin typeface="Vesper Libre Regular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57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kern="1200" dirty="0" smtClean="0">
                          <a:solidFill>
                            <a:srgbClr val="250542"/>
                          </a:solidFill>
                          <a:latin typeface="Vesper Libre Regular"/>
                          <a:ea typeface="+mn-ea"/>
                          <a:cs typeface="+mn-cs"/>
                        </a:rPr>
                        <a:t>Practice and Self Learning</a:t>
                      </a:r>
                    </a:p>
                  </a:txBody>
                  <a:tcPr>
                    <a:lnL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sz="4000" kern="1200" dirty="0" smtClean="0">
                          <a:solidFill>
                            <a:srgbClr val="250542"/>
                          </a:solidFill>
                          <a:latin typeface="Vesper Libre Regular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9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028700" y="1095400"/>
            <a:ext cx="16230600" cy="1390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Course Outline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2323744"/>
            <a:ext cx="8115300" cy="66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197"/>
              </a:lnSpc>
              <a:spcBef>
                <a:spcPct val="0"/>
              </a:spcBef>
            </a:pPr>
            <a:r>
              <a:rPr lang="en-US" sz="4599" dirty="0">
                <a:solidFill>
                  <a:srgbClr val="250542"/>
                </a:solidFill>
                <a:latin typeface="Vesper Libre Regular"/>
              </a:rPr>
              <a:t>Hours of Study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5857" y="3355975"/>
            <a:ext cx="16636286" cy="349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603" lvl="1" indent="-431801" algn="just">
              <a:lnSpc>
                <a:spcPts val="5600"/>
              </a:lnSpc>
              <a:buFont typeface="Arial"/>
              <a:buChar char="•"/>
            </a:pPr>
            <a:r>
              <a:rPr lang="en-US" sz="4000" spc="-40">
                <a:solidFill>
                  <a:srgbClr val="250542"/>
                </a:solidFill>
                <a:latin typeface="Times Neue Roman"/>
              </a:rPr>
              <a:t>Practical Tasks in Each Lab</a:t>
            </a:r>
          </a:p>
          <a:p>
            <a:pPr marL="863603" lvl="1" indent="-431801" algn="just">
              <a:lnSpc>
                <a:spcPts val="5600"/>
              </a:lnSpc>
              <a:buFont typeface="Arial"/>
              <a:buChar char="•"/>
            </a:pPr>
            <a:r>
              <a:rPr lang="en-US" sz="4000" spc="-40">
                <a:solidFill>
                  <a:srgbClr val="250542"/>
                </a:solidFill>
                <a:latin typeface="Times Neue Roman"/>
              </a:rPr>
              <a:t>Assignments for Every Topic</a:t>
            </a:r>
          </a:p>
          <a:p>
            <a:pPr marL="863603" lvl="1" indent="-431801" algn="just">
              <a:lnSpc>
                <a:spcPts val="5600"/>
              </a:lnSpc>
              <a:buFont typeface="Arial"/>
              <a:buChar char="•"/>
            </a:pPr>
            <a:r>
              <a:rPr lang="en-US" sz="4000" spc="-40">
                <a:solidFill>
                  <a:srgbClr val="250542"/>
                </a:solidFill>
                <a:latin typeface="Times Neue Roman"/>
              </a:rPr>
              <a:t>Mid Term Exam after 8 weeks</a:t>
            </a:r>
          </a:p>
          <a:p>
            <a:pPr marL="863603" lvl="1" indent="-431801" algn="just">
              <a:lnSpc>
                <a:spcPts val="5600"/>
              </a:lnSpc>
              <a:buFont typeface="Arial"/>
              <a:buChar char="•"/>
            </a:pPr>
            <a:r>
              <a:rPr lang="en-US" sz="4000" spc="-40">
                <a:solidFill>
                  <a:srgbClr val="250542"/>
                </a:solidFill>
                <a:latin typeface="Times Neue Roman"/>
              </a:rPr>
              <a:t>Final Exam after 16 weeks</a:t>
            </a:r>
          </a:p>
          <a:p>
            <a:pPr marL="863603" lvl="1" indent="-431801" algn="just">
              <a:lnSpc>
                <a:spcPts val="5600"/>
              </a:lnSpc>
              <a:buFont typeface="Arial"/>
              <a:buChar char="•"/>
            </a:pPr>
            <a:r>
              <a:rPr lang="en-US" sz="4000" spc="-40">
                <a:solidFill>
                  <a:srgbClr val="250542"/>
                </a:solidFill>
                <a:latin typeface="Times Neue Roman"/>
              </a:rPr>
              <a:t>Project at the completion of the course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095400"/>
            <a:ext cx="8115300" cy="1390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Course Outline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323744"/>
            <a:ext cx="8115300" cy="66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197"/>
              </a:lnSpc>
              <a:spcBef>
                <a:spcPct val="0"/>
              </a:spcBef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Labs and Exams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028700" y="3976454"/>
            <a:ext cx="3053690" cy="168863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697634" y="6655684"/>
            <a:ext cx="3121407" cy="168863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10403120" y="3976454"/>
            <a:ext cx="2814383" cy="168863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13774381" y="3919271"/>
            <a:ext cx="2986323" cy="168863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>
          <a:xfrm>
            <a:off x="5490483" y="4252170"/>
            <a:ext cx="3933710" cy="1137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 cstate="print"/>
          <a:srcRect/>
          <a:stretch>
            <a:fillRect/>
          </a:stretch>
        </p:blipFill>
        <p:spPr>
          <a:xfrm>
            <a:off x="5014731" y="6091157"/>
            <a:ext cx="2651184" cy="2258416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>
          <a:xfrm>
            <a:off x="9193745" y="6487688"/>
            <a:ext cx="3053491" cy="1861885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>
          <a:xfrm>
            <a:off x="13771236" y="6676382"/>
            <a:ext cx="3251785" cy="1673191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28700" y="1095400"/>
            <a:ext cx="8115300" cy="1390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Course Outline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323744"/>
            <a:ext cx="8115300" cy="66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197"/>
              </a:lnSpc>
              <a:spcBef>
                <a:spcPct val="0"/>
              </a:spcBef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Tools and Technologies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8225" y="1095375"/>
            <a:ext cx="8115300" cy="1390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Course Outline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38225" y="2323744"/>
            <a:ext cx="8115300" cy="66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197"/>
              </a:lnSpc>
              <a:spcBef>
                <a:spcPct val="0"/>
              </a:spcBef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Course Learning Outcomes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38225" y="4138369"/>
            <a:ext cx="16636286" cy="349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0"/>
              </a:lnSpc>
            </a:pPr>
            <a:r>
              <a:rPr lang="en-US" sz="4000" spc="-40">
                <a:solidFill>
                  <a:srgbClr val="250542"/>
                </a:solidFill>
                <a:latin typeface="Times Neue Roman"/>
              </a:rPr>
              <a:t>On Successful Completion of this course, the student shall be able to:</a:t>
            </a:r>
          </a:p>
          <a:p>
            <a:pPr marL="863603" lvl="1" indent="-431801" algn="just">
              <a:lnSpc>
                <a:spcPts val="5600"/>
              </a:lnSpc>
              <a:buFont typeface="Arial"/>
              <a:buChar char="•"/>
            </a:pPr>
            <a:r>
              <a:rPr lang="en-US" sz="4000" spc="-40">
                <a:solidFill>
                  <a:srgbClr val="250542"/>
                </a:solidFill>
                <a:latin typeface="Times Neue Roman"/>
              </a:rPr>
              <a:t>Attempt AWS Cloud Practitioner Certification</a:t>
            </a:r>
          </a:p>
          <a:p>
            <a:pPr marL="863603" lvl="1" indent="-431801" algn="just">
              <a:lnSpc>
                <a:spcPts val="5600"/>
              </a:lnSpc>
              <a:buFont typeface="Arial"/>
              <a:buChar char="•"/>
            </a:pPr>
            <a:r>
              <a:rPr lang="en-US" sz="4000" spc="-40">
                <a:solidFill>
                  <a:srgbClr val="250542"/>
                </a:solidFill>
                <a:latin typeface="Times Neue Roman"/>
              </a:rPr>
              <a:t>Deploy and manage cloud infrastructure and resources</a:t>
            </a:r>
          </a:p>
          <a:p>
            <a:pPr marL="863603" lvl="1" indent="-431801" algn="just">
              <a:lnSpc>
                <a:spcPts val="5600"/>
              </a:lnSpc>
              <a:buFont typeface="Arial"/>
              <a:buChar char="•"/>
            </a:pPr>
            <a:r>
              <a:rPr lang="en-US" sz="4000" spc="-40">
                <a:solidFill>
                  <a:srgbClr val="250542"/>
                </a:solidFill>
                <a:latin typeface="Times Neue Roman"/>
              </a:rPr>
              <a:t>Contribute to the global workforce for cloud-based application deployment</a:t>
            </a:r>
          </a:p>
          <a:p>
            <a:pPr marL="863603" lvl="1" indent="-431801" algn="just">
              <a:lnSpc>
                <a:spcPts val="5600"/>
              </a:lnSpc>
              <a:buFont typeface="Arial"/>
              <a:buChar char="•"/>
            </a:pPr>
            <a:r>
              <a:rPr lang="en-US" sz="4000" spc="-40">
                <a:solidFill>
                  <a:srgbClr val="250542"/>
                </a:solidFill>
                <a:latin typeface="Times Neue Roman"/>
              </a:rPr>
              <a:t>Create and convert legacy software to containerization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8225" y="1095375"/>
            <a:ext cx="8115300" cy="1390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Course Outline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38225" y="2323744"/>
            <a:ext cx="8115300" cy="66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197"/>
              </a:lnSpc>
              <a:spcBef>
                <a:spcPct val="0"/>
              </a:spcBef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Prerequisite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38225" y="3708400"/>
            <a:ext cx="16636286" cy="2794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603" lvl="1" indent="-431801" algn="just">
              <a:lnSpc>
                <a:spcPts val="5600"/>
              </a:lnSpc>
              <a:buFont typeface="Arial"/>
              <a:buChar char="•"/>
            </a:pPr>
            <a:r>
              <a:rPr lang="en-US" sz="4000" spc="-40">
                <a:solidFill>
                  <a:srgbClr val="250542"/>
                </a:solidFill>
                <a:latin typeface="Times Neue Roman"/>
              </a:rPr>
              <a:t>Basics of IP addresses</a:t>
            </a:r>
          </a:p>
          <a:p>
            <a:pPr marL="863603" lvl="1" indent="-431801" algn="just">
              <a:lnSpc>
                <a:spcPts val="5600"/>
              </a:lnSpc>
              <a:buFont typeface="Arial"/>
              <a:buChar char="•"/>
            </a:pPr>
            <a:r>
              <a:rPr lang="en-US" sz="4000" spc="-40">
                <a:solidFill>
                  <a:srgbClr val="250542"/>
                </a:solidFill>
                <a:latin typeface="Times Neue Roman"/>
              </a:rPr>
              <a:t>Basics of Computer Networks</a:t>
            </a:r>
          </a:p>
          <a:p>
            <a:pPr marL="863603" lvl="1" indent="-431801" algn="just">
              <a:lnSpc>
                <a:spcPts val="5600"/>
              </a:lnSpc>
              <a:buFont typeface="Arial"/>
              <a:buChar char="•"/>
            </a:pPr>
            <a:r>
              <a:rPr lang="en-US" sz="4000" spc="-40">
                <a:solidFill>
                  <a:srgbClr val="250542"/>
                </a:solidFill>
                <a:latin typeface="Times Neue Roman"/>
              </a:rPr>
              <a:t>Basics of Computer Programming</a:t>
            </a:r>
          </a:p>
          <a:p>
            <a:pPr marL="863603" lvl="1" indent="-431801" algn="just">
              <a:lnSpc>
                <a:spcPts val="5600"/>
              </a:lnSpc>
              <a:buFont typeface="Arial"/>
              <a:buChar char="•"/>
            </a:pPr>
            <a:r>
              <a:rPr lang="en-US" sz="4000" spc="-40">
                <a:solidFill>
                  <a:srgbClr val="250542"/>
                </a:solidFill>
                <a:latin typeface="Times Neue Roman"/>
              </a:rPr>
              <a:t>Feel free to ask relevant questions whenever in doubt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38225" y="3539783"/>
            <a:ext cx="14697225" cy="6203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2945" lvl="1" indent="-381472" algn="just">
              <a:lnSpc>
                <a:spcPts val="4947"/>
              </a:lnSpc>
              <a:buFont typeface="Arial"/>
              <a:buChar char="•"/>
            </a:pPr>
            <a:r>
              <a:rPr lang="en-US" sz="3533" spc="-35">
                <a:solidFill>
                  <a:srgbClr val="250542"/>
                </a:solidFill>
                <a:latin typeface="Times Neue Roman"/>
              </a:rPr>
              <a:t>opensourceeducation.net</a:t>
            </a:r>
          </a:p>
          <a:p>
            <a:pPr algn="just">
              <a:lnSpc>
                <a:spcPts val="4947"/>
              </a:lnSpc>
            </a:pPr>
            <a:endParaRPr/>
          </a:p>
          <a:p>
            <a:pPr algn="just">
              <a:lnSpc>
                <a:spcPts val="4947"/>
              </a:lnSpc>
            </a:pPr>
            <a:endParaRPr/>
          </a:p>
          <a:p>
            <a:pPr algn="just">
              <a:lnSpc>
                <a:spcPts val="4947"/>
              </a:lnSpc>
            </a:pPr>
            <a:endParaRPr/>
          </a:p>
          <a:p>
            <a:pPr marL="762945" lvl="1" indent="-381472" algn="just">
              <a:lnSpc>
                <a:spcPts val="4947"/>
              </a:lnSpc>
              <a:buFont typeface="Arial"/>
              <a:buChar char="•"/>
            </a:pPr>
            <a:r>
              <a:rPr lang="en-US" sz="3533" spc="-35">
                <a:solidFill>
                  <a:srgbClr val="250542"/>
                </a:solidFill>
                <a:latin typeface="Times Neue Roman"/>
              </a:rPr>
              <a:t>Youtube Channel: WBITT</a:t>
            </a:r>
          </a:p>
          <a:p>
            <a:pPr algn="just">
              <a:lnSpc>
                <a:spcPts val="4947"/>
              </a:lnSpc>
            </a:pPr>
            <a:endParaRPr/>
          </a:p>
          <a:p>
            <a:pPr algn="just">
              <a:lnSpc>
                <a:spcPts val="4947"/>
              </a:lnSpc>
            </a:pPr>
            <a:endParaRPr/>
          </a:p>
          <a:p>
            <a:pPr algn="just">
              <a:lnSpc>
                <a:spcPts val="4947"/>
              </a:lnSpc>
            </a:pPr>
            <a:endParaRPr/>
          </a:p>
          <a:p>
            <a:pPr marL="762945" lvl="1" indent="-381472" algn="just">
              <a:lnSpc>
                <a:spcPts val="4947"/>
              </a:lnSpc>
              <a:buFont typeface="Arial"/>
              <a:buChar char="•"/>
            </a:pPr>
            <a:r>
              <a:rPr lang="en-US" sz="3533" spc="-35">
                <a:solidFill>
                  <a:srgbClr val="250542"/>
                </a:solidFill>
                <a:latin typeface="Times Neue Roman"/>
              </a:rPr>
              <a:t>Youtube Channel: Babar Zahoor</a:t>
            </a:r>
          </a:p>
          <a:p>
            <a:pPr algn="just">
              <a:lnSpc>
                <a:spcPts val="4947"/>
              </a:lnSpc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4397321" y="7067396"/>
            <a:ext cx="2676258" cy="2676258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1056244" y="5143500"/>
            <a:ext cx="2676258" cy="2676258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7837061" y="2983762"/>
            <a:ext cx="2676258" cy="2676258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038225" y="1095375"/>
            <a:ext cx="8115300" cy="1390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Course Outline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8225" y="2323744"/>
            <a:ext cx="8115300" cy="66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197"/>
              </a:lnSpc>
              <a:spcBef>
                <a:spcPct val="0"/>
              </a:spcBef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Video References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0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1370653"/>
            <a:ext cx="18288000" cy="7269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18"/>
              </a:lnSpc>
            </a:pPr>
            <a:r>
              <a:rPr lang="en-US" sz="13798">
                <a:solidFill>
                  <a:srgbClr val="FFFFFF"/>
                </a:solidFill>
                <a:latin typeface="Norwester"/>
              </a:rPr>
              <a:t>BE  BRAVE ENOUGH</a:t>
            </a:r>
          </a:p>
          <a:p>
            <a:pPr algn="ctr">
              <a:lnSpc>
                <a:spcPts val="19318"/>
              </a:lnSpc>
            </a:pPr>
            <a:r>
              <a:rPr lang="en-US" sz="13798">
                <a:solidFill>
                  <a:srgbClr val="FFFFFF"/>
                </a:solidFill>
                <a:latin typeface="Norwester"/>
              </a:rPr>
              <a:t>TO BE BAD AT</a:t>
            </a:r>
          </a:p>
          <a:p>
            <a:pPr algn="ctr">
              <a:lnSpc>
                <a:spcPts val="19318"/>
              </a:lnSpc>
            </a:pPr>
            <a:r>
              <a:rPr lang="en-US" sz="13798">
                <a:solidFill>
                  <a:srgbClr val="FFFFFF"/>
                </a:solidFill>
                <a:latin typeface="Norwester"/>
              </a:rPr>
              <a:t>SOMETHING NEW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95400"/>
            <a:ext cx="12461932" cy="1390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Learning Objectives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323744"/>
            <a:ext cx="8115300" cy="66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197"/>
              </a:lnSpc>
              <a:spcBef>
                <a:spcPct val="0"/>
              </a:spcBef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Module 1 - Lecture 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413250"/>
            <a:ext cx="16636286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603" lvl="1" indent="-431801" algn="just">
              <a:lnSpc>
                <a:spcPts val="5600"/>
              </a:lnSpc>
              <a:buFont typeface="Arial"/>
              <a:buChar char="•"/>
            </a:pPr>
            <a:r>
              <a:rPr lang="en-US" sz="4000" spc="-40">
                <a:solidFill>
                  <a:srgbClr val="250542"/>
                </a:solidFill>
                <a:latin typeface="Times Neue Roman"/>
              </a:rPr>
              <a:t>Introduction to Cloud Computing</a:t>
            </a:r>
          </a:p>
          <a:p>
            <a:pPr marL="863603" lvl="1" indent="-431801" algn="just">
              <a:lnSpc>
                <a:spcPts val="5600"/>
              </a:lnSpc>
              <a:buFont typeface="Arial"/>
              <a:buChar char="•"/>
            </a:pPr>
            <a:r>
              <a:rPr lang="en-US" sz="4000" spc="-40">
                <a:solidFill>
                  <a:srgbClr val="250542"/>
                </a:solidFill>
                <a:latin typeface="Times Neue Roman"/>
              </a:rPr>
              <a:t>IaaS, PaaS, SaaS, On-Prem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0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>
            <a:alphaModFix amt="60000"/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445379" y="1444879"/>
            <a:ext cx="7397243" cy="7397243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4583619"/>
            <a:ext cx="16230600" cy="1176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53"/>
              </a:lnSpc>
              <a:spcBef>
                <a:spcPct val="0"/>
              </a:spcBef>
            </a:pPr>
            <a:r>
              <a:rPr lang="en-US" sz="8100">
                <a:solidFill>
                  <a:srgbClr val="FFFFFF"/>
                </a:solidFill>
                <a:latin typeface="Vesper Libre Regular"/>
              </a:rPr>
              <a:t>Why Cloud Computing?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25410"/>
            <a:ext cx="13635210" cy="954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Scope of Cloud Computing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5059" y="2662609"/>
            <a:ext cx="16694241" cy="4401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62" lvl="1" indent="-47498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In demand high-end jobs like software architect and DevOps Engineer require cloud skills</a:t>
            </a:r>
          </a:p>
          <a:p>
            <a:pPr>
              <a:lnSpc>
                <a:spcPts val="4972"/>
              </a:lnSpc>
            </a:pPr>
            <a:endParaRPr/>
          </a:p>
          <a:p>
            <a:pPr marL="949962" lvl="1" indent="-474981">
              <a:lnSpc>
                <a:spcPts val="4972"/>
              </a:lnSpc>
              <a:buFont typeface="Arial"/>
              <a:buChar char="•"/>
            </a:pPr>
            <a:r>
              <a:rPr lang="en-US" sz="4400" u="sng">
                <a:solidFill>
                  <a:srgbClr val="250542"/>
                </a:solidFill>
                <a:latin typeface="Vesper Libre Regular"/>
              </a:rPr>
              <a:t>https://www.bmc.com/blogs/cloud-growth-trends/</a:t>
            </a:r>
          </a:p>
          <a:p>
            <a:pPr>
              <a:lnSpc>
                <a:spcPts val="4972"/>
              </a:lnSpc>
            </a:pPr>
            <a:endParaRPr/>
          </a:p>
          <a:p>
            <a:pPr marL="949962" lvl="1" indent="-47498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Indeed.com, identified the "booming" cloud skills as a major trend in the tech skills market.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25410"/>
            <a:ext cx="13635210" cy="954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Cloud Computing in Pakistan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65059" y="3450051"/>
            <a:ext cx="16694241" cy="4401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62" lvl="1" indent="-47498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booming industry in Pakistan</a:t>
            </a:r>
          </a:p>
          <a:p>
            <a:pPr>
              <a:lnSpc>
                <a:spcPts val="4972"/>
              </a:lnSpc>
            </a:pPr>
            <a:endParaRPr/>
          </a:p>
          <a:p>
            <a:pPr marL="949962" lvl="1" indent="-47498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Government organizations' impressive results in cloud</a:t>
            </a:r>
          </a:p>
          <a:p>
            <a:pPr marL="1899924" lvl="2" indent="-633308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HEC, PITB, and NTC</a:t>
            </a:r>
          </a:p>
          <a:p>
            <a:pPr>
              <a:lnSpc>
                <a:spcPts val="4972"/>
              </a:lnSpc>
            </a:pPr>
            <a:endParaRPr/>
          </a:p>
          <a:p>
            <a:pPr marL="949962" lvl="1" indent="-474981">
              <a:lnSpc>
                <a:spcPts val="4972"/>
              </a:lnSpc>
              <a:buFont typeface="Arial"/>
              <a:buChar char="•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Private companies providing cloud services</a:t>
            </a:r>
          </a:p>
          <a:p>
            <a:pPr marL="1899924" lvl="2" indent="-633308">
              <a:lnSpc>
                <a:spcPts val="4972"/>
              </a:lnSpc>
              <a:buFont typeface="Arial"/>
              <a:buChar char="⚬"/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RapidCompute, PTCL, Nayatel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95375"/>
            <a:ext cx="16230600" cy="1390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0847"/>
              </a:lnSpc>
              <a:spcBef>
                <a:spcPct val="0"/>
              </a:spcBef>
            </a:pPr>
            <a:r>
              <a:rPr lang="en-US" sz="9599">
                <a:solidFill>
                  <a:srgbClr val="250542"/>
                </a:solidFill>
                <a:latin typeface="Vesper Libre Regular"/>
              </a:rPr>
              <a:t>What is Cloud Computing?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27214" y="3093339"/>
            <a:ext cx="16732086" cy="4128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14" lvl="1" indent="-518157">
              <a:lnSpc>
                <a:spcPts val="5423"/>
              </a:lnSpc>
              <a:buFont typeface="Arial"/>
              <a:buChar char="•"/>
            </a:pPr>
            <a:r>
              <a:rPr lang="en-US" sz="4799">
                <a:solidFill>
                  <a:srgbClr val="250542"/>
                </a:solidFill>
                <a:latin typeface="Vesper Libre Regular"/>
              </a:rPr>
              <a:t>On-demand availability of computer system resources, especially computing power and storage</a:t>
            </a:r>
          </a:p>
          <a:p>
            <a:pPr>
              <a:lnSpc>
                <a:spcPts val="5423"/>
              </a:lnSpc>
            </a:pPr>
            <a:endParaRPr/>
          </a:p>
          <a:p>
            <a:pPr marL="1036314" lvl="1" indent="-518157">
              <a:lnSpc>
                <a:spcPts val="5423"/>
              </a:lnSpc>
              <a:buFont typeface="Arial"/>
              <a:buChar char="•"/>
            </a:pPr>
            <a:r>
              <a:rPr lang="en-US" sz="4799">
                <a:solidFill>
                  <a:srgbClr val="250542"/>
                </a:solidFill>
                <a:latin typeface="Vesper Libre Regular"/>
              </a:rPr>
              <a:t>automation of virtualization</a:t>
            </a:r>
          </a:p>
          <a:p>
            <a:pPr>
              <a:lnSpc>
                <a:spcPts val="5423"/>
              </a:lnSpc>
            </a:pPr>
            <a:endParaRPr/>
          </a:p>
          <a:p>
            <a:pPr marL="1036314" lvl="1" indent="-518157">
              <a:lnSpc>
                <a:spcPts val="5423"/>
              </a:lnSpc>
              <a:buFont typeface="Arial"/>
              <a:buChar char="•"/>
            </a:pPr>
            <a:r>
              <a:rPr lang="en-US" sz="4799">
                <a:solidFill>
                  <a:srgbClr val="250542"/>
                </a:solidFill>
                <a:latin typeface="Vesper Libre Regular"/>
              </a:rPr>
              <a:t>Storing and accessing data and programs over the internet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rcRect l="23502" r="23613"/>
          <a:stretch>
            <a:fillRect/>
          </a:stretch>
        </p:blipFill>
        <p:spPr>
          <a:xfrm>
            <a:off x="2856268" y="2045203"/>
            <a:ext cx="12575463" cy="7213097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1066800"/>
            <a:ext cx="14728774" cy="811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6328"/>
              </a:lnSpc>
              <a:spcBef>
                <a:spcPct val="0"/>
              </a:spcBef>
            </a:pPr>
            <a:r>
              <a:rPr lang="en-US" sz="5600">
                <a:solidFill>
                  <a:srgbClr val="250542"/>
                </a:solidFill>
                <a:latin typeface="Vesper Libre Regular"/>
              </a:rPr>
              <a:t>Service Models of Cloud Computing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684961" y="6104776"/>
            <a:ext cx="4730287" cy="3153524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0386603" y="7343026"/>
            <a:ext cx="4755663" cy="1383258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1028700" y="3272680"/>
            <a:ext cx="5021404" cy="2825377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6674771" y="3316686"/>
            <a:ext cx="5314540" cy="278809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>
          <a:xfrm>
            <a:off x="14100881" y="3643983"/>
            <a:ext cx="2082770" cy="208277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028700" y="1125410"/>
            <a:ext cx="13635210" cy="954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Infrastructure as a Service (IaaS)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643014"/>
            <a:ext cx="8597908" cy="629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972"/>
              </a:lnSpc>
              <a:spcBef>
                <a:spcPct val="0"/>
              </a:spcBef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Computing Resources over internet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028700" y="5347029"/>
            <a:ext cx="5034982" cy="1397948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7846305" y="3998508"/>
            <a:ext cx="9154897" cy="5492938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28700" y="1125410"/>
            <a:ext cx="13635210" cy="954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Platform as a Service (PaaS)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491153"/>
            <a:ext cx="14113566" cy="629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972"/>
              </a:lnSpc>
              <a:spcBef>
                <a:spcPct val="0"/>
              </a:spcBef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Tools over internet, usually for application development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028700" y="3492294"/>
            <a:ext cx="9452633" cy="4015523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3157116" y="798761"/>
            <a:ext cx="3970301" cy="3308584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12166117" y="4478820"/>
            <a:ext cx="4608961" cy="1764864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10193861" y="7244898"/>
            <a:ext cx="6581216" cy="2281574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028700" y="1125410"/>
            <a:ext cx="13635210" cy="954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Software as a Service (SaaS)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491153"/>
            <a:ext cx="14113566" cy="629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972"/>
              </a:lnSpc>
              <a:spcBef>
                <a:spcPct val="0"/>
              </a:spcBef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Software Distribution Model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10058400" y="4305300"/>
            <a:ext cx="6447249" cy="311384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219200" y="5372100"/>
            <a:ext cx="7235731" cy="262587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28700" y="1125410"/>
            <a:ext cx="13635210" cy="954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7458"/>
              </a:lnSpc>
              <a:spcBef>
                <a:spcPct val="0"/>
              </a:spcBef>
            </a:pPr>
            <a:r>
              <a:rPr lang="en-US" sz="6600">
                <a:solidFill>
                  <a:srgbClr val="250542"/>
                </a:solidFill>
                <a:latin typeface="Vesper Libre Regular"/>
              </a:rPr>
              <a:t>On-Prem Private Cloud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491153"/>
            <a:ext cx="14113566" cy="629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4972"/>
              </a:lnSpc>
              <a:spcBef>
                <a:spcPct val="0"/>
              </a:spcBef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On-Site Cloud Infrastructure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3282221" y="438873"/>
            <a:ext cx="11758808" cy="943754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776634" y="425861"/>
            <a:ext cx="12734732" cy="943527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95400"/>
            <a:ext cx="12461932" cy="1390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Summary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174709"/>
            <a:ext cx="8115300" cy="66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197"/>
              </a:lnSpc>
              <a:spcBef>
                <a:spcPct val="0"/>
              </a:spcBef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Module 1 - Lecture 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413250"/>
            <a:ext cx="16636286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603" lvl="1" indent="-431801" algn="just">
              <a:lnSpc>
                <a:spcPts val="5600"/>
              </a:lnSpc>
              <a:buFont typeface="Arial"/>
              <a:buChar char="•"/>
            </a:pPr>
            <a:r>
              <a:rPr lang="en-US" sz="4000" spc="-40">
                <a:solidFill>
                  <a:srgbClr val="250542"/>
                </a:solidFill>
                <a:latin typeface="Times Neue Roman"/>
              </a:rPr>
              <a:t>Introduction to Cloud Computing</a:t>
            </a:r>
          </a:p>
          <a:p>
            <a:pPr marL="863603" lvl="1" indent="-431801" algn="just">
              <a:lnSpc>
                <a:spcPts val="5600"/>
              </a:lnSpc>
              <a:buFont typeface="Arial"/>
              <a:buChar char="•"/>
            </a:pPr>
            <a:r>
              <a:rPr lang="en-US" sz="4000" spc="-40">
                <a:solidFill>
                  <a:srgbClr val="250542"/>
                </a:solidFill>
                <a:latin typeface="Times Neue Roman"/>
              </a:rPr>
              <a:t>IaaS, PaaS, SaaS, On-Prem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95400"/>
            <a:ext cx="12461932" cy="1390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0847"/>
              </a:lnSpc>
              <a:spcBef>
                <a:spcPct val="0"/>
              </a:spcBef>
            </a:pPr>
            <a:r>
              <a:rPr lang="en-US" sz="9600">
                <a:solidFill>
                  <a:srgbClr val="250542"/>
                </a:solidFill>
                <a:latin typeface="Vesper Libre Regular"/>
              </a:rPr>
              <a:t>Next Lecture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174709"/>
            <a:ext cx="8115300" cy="66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197"/>
              </a:lnSpc>
              <a:spcBef>
                <a:spcPct val="0"/>
              </a:spcBef>
            </a:pPr>
            <a:r>
              <a:rPr lang="en-US" sz="4599">
                <a:solidFill>
                  <a:srgbClr val="250542"/>
                </a:solidFill>
                <a:latin typeface="Vesper Libre Regular"/>
              </a:rPr>
              <a:t>Module 2 - Lecture 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413250"/>
            <a:ext cx="16636286" cy="138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603" lvl="1" indent="-431801" algn="just">
              <a:lnSpc>
                <a:spcPts val="5600"/>
              </a:lnSpc>
              <a:buFont typeface="Arial"/>
              <a:buChar char="•"/>
            </a:pPr>
            <a:r>
              <a:rPr lang="en-US" sz="4000" spc="-40">
                <a:solidFill>
                  <a:srgbClr val="250542"/>
                </a:solidFill>
                <a:latin typeface="Times Neue Roman"/>
              </a:rPr>
              <a:t>Introduction to Linux</a:t>
            </a:r>
          </a:p>
          <a:p>
            <a:pPr marL="863603" lvl="1" indent="-431801" algn="just">
              <a:lnSpc>
                <a:spcPts val="5600"/>
              </a:lnSpc>
              <a:buFont typeface="Arial"/>
              <a:buChar char="•"/>
            </a:pPr>
            <a:r>
              <a:rPr lang="en-US" sz="4000" spc="-40">
                <a:solidFill>
                  <a:srgbClr val="250542"/>
                </a:solidFill>
                <a:latin typeface="Times Neue Roman"/>
              </a:rPr>
              <a:t>Introduction to Virtualization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0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2131835" y="504814"/>
            <a:ext cx="13790991" cy="9102054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4898073" y="4287945"/>
            <a:ext cx="8404922" cy="1472586"/>
            <a:chOff x="0" y="0"/>
            <a:chExt cx="1302142" cy="2281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2142" cy="228142"/>
            </a:xfrm>
            <a:custGeom>
              <a:avLst/>
              <a:gdLst/>
              <a:ahLst/>
              <a:cxnLst/>
              <a:rect l="l" t="t" r="r" b="b"/>
              <a:pathLst>
                <a:path w="1302142" h="228142">
                  <a:moveTo>
                    <a:pt x="0" y="0"/>
                  </a:moveTo>
                  <a:lnTo>
                    <a:pt x="1302142" y="0"/>
                  </a:lnTo>
                  <a:lnTo>
                    <a:pt x="1302142" y="228142"/>
                  </a:lnTo>
                  <a:lnTo>
                    <a:pt x="0" y="228142"/>
                  </a:lnTo>
                  <a:close/>
                </a:path>
              </a:pathLst>
            </a:custGeom>
            <a:solidFill>
              <a:srgbClr val="25054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38100"/>
              <a:ext cx="8128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97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4583619"/>
            <a:ext cx="16230600" cy="1176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53"/>
              </a:lnSpc>
              <a:spcBef>
                <a:spcPct val="0"/>
              </a:spcBef>
            </a:pPr>
            <a:r>
              <a:rPr lang="en-US" sz="8100">
                <a:solidFill>
                  <a:srgbClr val="FFFFFF"/>
                </a:solidFill>
                <a:latin typeface="Vesper Libre Regular Bold"/>
              </a:rPr>
              <a:t>Ask Questions!!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429</Words>
  <Application>Microsoft Office PowerPoint</Application>
  <PresentationFormat>Custom</PresentationFormat>
  <Paragraphs>106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Vesper Libre Regular</vt:lpstr>
      <vt:lpstr>29LT Zarid Text</vt:lpstr>
      <vt:lpstr>Calibri</vt:lpstr>
      <vt:lpstr>Times Neue Roman</vt:lpstr>
      <vt:lpstr>Norwester</vt:lpstr>
      <vt:lpstr>Vesper Libre Regular Bold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CSA-Lecture 1</dc:title>
  <cp:lastModifiedBy>Imran</cp:lastModifiedBy>
  <cp:revision>9</cp:revision>
  <dcterms:created xsi:type="dcterms:W3CDTF">2006-08-16T00:00:00Z</dcterms:created>
  <dcterms:modified xsi:type="dcterms:W3CDTF">2022-05-15T23:50:27Z</dcterms:modified>
  <dc:identifier>DAE94_IESFI</dc:identifier>
</cp:coreProperties>
</file>