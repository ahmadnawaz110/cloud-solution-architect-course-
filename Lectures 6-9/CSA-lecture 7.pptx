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  <p:sldId id="299" r:id="rId67"/>
    <p:sldId id="300" r:id="rId68"/>
    <p:sldId id="301" r:id="rId69"/>
    <p:sldId id="302" r:id="rId70"/>
    <p:sldId id="303" r:id="rId71"/>
    <p:sldId id="304" r:id="rId72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Times Neue Roman" charset="1" panose="00000500000000000000"/>
      <p:regular r:id="rId10"/>
    </p:embeddedFont>
    <p:embeddedFont>
      <p:font typeface="Times Neue Roman Bold" charset="1" panose="00000800000000000000"/>
      <p:regular r:id="rId11"/>
    </p:embeddedFont>
    <p:embeddedFont>
      <p:font typeface="Times Neue Roman Italics" charset="1" panose="00000500000000000000"/>
      <p:regular r:id="rId12"/>
    </p:embeddedFont>
    <p:embeddedFont>
      <p:font typeface="Times Neue Roman Bold Italics" charset="1" panose="00000800000000000000"/>
      <p:regular r:id="rId13"/>
    </p:embeddedFont>
    <p:embeddedFont>
      <p:font typeface="Mont Bold" charset="1" panose="00000800000000000000"/>
      <p:regular r:id="rId14"/>
    </p:embeddedFont>
    <p:embeddedFont>
      <p:font typeface="Mont Bold Bold" charset="1" panose="00000A00000000000000"/>
      <p:regular r:id="rId15"/>
    </p:embeddedFont>
    <p:embeddedFont>
      <p:font typeface="Mont Bold Italics" charset="1" panose="00000800000000000000"/>
      <p:regular r:id="rId16"/>
    </p:embeddedFont>
    <p:embeddedFont>
      <p:font typeface="Mont Bold Bold Italics" charset="1" panose="00000A00000000000000"/>
      <p:regular r:id="rId17"/>
    </p:embeddedFont>
    <p:embeddedFont>
      <p:font typeface="Vesper Libre Regular" charset="1" panose="00000500000000000000"/>
      <p:regular r:id="rId18"/>
    </p:embeddedFont>
    <p:embeddedFont>
      <p:font typeface="Vesper Libre Regular Bold" charset="1" panose="00000600000000000000"/>
      <p:regular r:id="rId19"/>
    </p:embeddedFont>
    <p:embeddedFont>
      <p:font typeface="29LT Zarid Text" charset="1" panose="00000500000000000000"/>
      <p:regular r:id="rId20"/>
    </p:embeddedFont>
    <p:embeddedFont>
      <p:font typeface="29LT Zarid Text Bold" charset="1" panose="00000800000000000000"/>
      <p:regular r:id="rId21"/>
    </p:embeddedFont>
    <p:embeddedFont>
      <p:font typeface="29LT Zarid Text Italics" charset="1" panose="00000500000000000000"/>
      <p:regular r:id="rId22"/>
    </p:embeddedFont>
    <p:embeddedFont>
      <p:font typeface="29LT Zarid Text Bold Italics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slides/slide1.xml" Type="http://schemas.openxmlformats.org/officeDocument/2006/relationships/slide"/><Relationship Id="rId25" Target="slides/slide2.xml" Type="http://schemas.openxmlformats.org/officeDocument/2006/relationships/slide"/><Relationship Id="rId26" Target="slides/slide3.xml" Type="http://schemas.openxmlformats.org/officeDocument/2006/relationships/slide"/><Relationship Id="rId27" Target="slides/slide4.xml" Type="http://schemas.openxmlformats.org/officeDocument/2006/relationships/slide"/><Relationship Id="rId28" Target="slides/slide5.xml" Type="http://schemas.openxmlformats.org/officeDocument/2006/relationships/slide"/><Relationship Id="rId29" Target="slides/slide6.xml" Type="http://schemas.openxmlformats.org/officeDocument/2006/relationships/slide"/><Relationship Id="rId3" Target="viewProps.xml" Type="http://schemas.openxmlformats.org/officeDocument/2006/relationships/viewProps"/><Relationship Id="rId30" Target="slides/slide7.xml" Type="http://schemas.openxmlformats.org/officeDocument/2006/relationships/slide"/><Relationship Id="rId31" Target="slides/slide8.xml" Type="http://schemas.openxmlformats.org/officeDocument/2006/relationships/slide"/><Relationship Id="rId32" Target="slides/slide9.xml" Type="http://schemas.openxmlformats.org/officeDocument/2006/relationships/slide"/><Relationship Id="rId33" Target="slides/slide10.xml" Type="http://schemas.openxmlformats.org/officeDocument/2006/relationships/slide"/><Relationship Id="rId34" Target="slides/slide11.xml" Type="http://schemas.openxmlformats.org/officeDocument/2006/relationships/slide"/><Relationship Id="rId35" Target="slides/slide12.xml" Type="http://schemas.openxmlformats.org/officeDocument/2006/relationships/slide"/><Relationship Id="rId36" Target="slides/slide13.xml" Type="http://schemas.openxmlformats.org/officeDocument/2006/relationships/slide"/><Relationship Id="rId37" Target="slides/slide14.xml" Type="http://schemas.openxmlformats.org/officeDocument/2006/relationships/slide"/><Relationship Id="rId38" Target="slides/slide15.xml" Type="http://schemas.openxmlformats.org/officeDocument/2006/relationships/slide"/><Relationship Id="rId39" Target="slides/slide16.xml" Type="http://schemas.openxmlformats.org/officeDocument/2006/relationships/slide"/><Relationship Id="rId4" Target="theme/theme1.xml" Type="http://schemas.openxmlformats.org/officeDocument/2006/relationships/theme"/><Relationship Id="rId40" Target="slides/slide17.xml" Type="http://schemas.openxmlformats.org/officeDocument/2006/relationships/slide"/><Relationship Id="rId41" Target="slides/slide18.xml" Type="http://schemas.openxmlformats.org/officeDocument/2006/relationships/slide"/><Relationship Id="rId42" Target="slides/slide19.xml" Type="http://schemas.openxmlformats.org/officeDocument/2006/relationships/slide"/><Relationship Id="rId43" Target="slides/slide20.xml" Type="http://schemas.openxmlformats.org/officeDocument/2006/relationships/slide"/><Relationship Id="rId44" Target="slides/slide21.xml" Type="http://schemas.openxmlformats.org/officeDocument/2006/relationships/slide"/><Relationship Id="rId45" Target="slides/slide22.xml" Type="http://schemas.openxmlformats.org/officeDocument/2006/relationships/slide"/><Relationship Id="rId46" Target="slides/slide23.xml" Type="http://schemas.openxmlformats.org/officeDocument/2006/relationships/slide"/><Relationship Id="rId47" Target="slides/slide24.xml" Type="http://schemas.openxmlformats.org/officeDocument/2006/relationships/slide"/><Relationship Id="rId48" Target="slides/slide25.xml" Type="http://schemas.openxmlformats.org/officeDocument/2006/relationships/slide"/><Relationship Id="rId49" Target="slides/slide26.xml" Type="http://schemas.openxmlformats.org/officeDocument/2006/relationships/slide"/><Relationship Id="rId5" Target="tableStyles.xml" Type="http://schemas.openxmlformats.org/officeDocument/2006/relationships/tableStyles"/><Relationship Id="rId50" Target="slides/slide27.xml" Type="http://schemas.openxmlformats.org/officeDocument/2006/relationships/slide"/><Relationship Id="rId51" Target="slides/slide28.xml" Type="http://schemas.openxmlformats.org/officeDocument/2006/relationships/slide"/><Relationship Id="rId52" Target="slides/slide29.xml" Type="http://schemas.openxmlformats.org/officeDocument/2006/relationships/slide"/><Relationship Id="rId53" Target="slides/slide30.xml" Type="http://schemas.openxmlformats.org/officeDocument/2006/relationships/slide"/><Relationship Id="rId54" Target="slides/slide31.xml" Type="http://schemas.openxmlformats.org/officeDocument/2006/relationships/slide"/><Relationship Id="rId55" Target="slides/slide32.xml" Type="http://schemas.openxmlformats.org/officeDocument/2006/relationships/slide"/><Relationship Id="rId56" Target="slides/slide33.xml" Type="http://schemas.openxmlformats.org/officeDocument/2006/relationships/slide"/><Relationship Id="rId57" Target="slides/slide34.xml" Type="http://schemas.openxmlformats.org/officeDocument/2006/relationships/slide"/><Relationship Id="rId58" Target="slides/slide35.xml" Type="http://schemas.openxmlformats.org/officeDocument/2006/relationships/slide"/><Relationship Id="rId59" Target="slides/slide36.xml" Type="http://schemas.openxmlformats.org/officeDocument/2006/relationships/slide"/><Relationship Id="rId6" Target="fonts/font6.fntdata" Type="http://schemas.openxmlformats.org/officeDocument/2006/relationships/font"/><Relationship Id="rId60" Target="slides/slide37.xml" Type="http://schemas.openxmlformats.org/officeDocument/2006/relationships/slide"/><Relationship Id="rId61" Target="slides/slide38.xml" Type="http://schemas.openxmlformats.org/officeDocument/2006/relationships/slide"/><Relationship Id="rId62" Target="slides/slide39.xml" Type="http://schemas.openxmlformats.org/officeDocument/2006/relationships/slide"/><Relationship Id="rId63" Target="slides/slide40.xml" Type="http://schemas.openxmlformats.org/officeDocument/2006/relationships/slide"/><Relationship Id="rId64" Target="slides/slide41.xml" Type="http://schemas.openxmlformats.org/officeDocument/2006/relationships/slide"/><Relationship Id="rId65" Target="slides/slide42.xml" Type="http://schemas.openxmlformats.org/officeDocument/2006/relationships/slide"/><Relationship Id="rId66" Target="slides/slide43.xml" Type="http://schemas.openxmlformats.org/officeDocument/2006/relationships/slide"/><Relationship Id="rId67" Target="slides/slide44.xml" Type="http://schemas.openxmlformats.org/officeDocument/2006/relationships/slide"/><Relationship Id="rId68" Target="slides/slide45.xml" Type="http://schemas.openxmlformats.org/officeDocument/2006/relationships/slide"/><Relationship Id="rId69" Target="slides/slide46.xml" Type="http://schemas.openxmlformats.org/officeDocument/2006/relationships/slide"/><Relationship Id="rId7" Target="fonts/font7.fntdata" Type="http://schemas.openxmlformats.org/officeDocument/2006/relationships/font"/><Relationship Id="rId70" Target="slides/slide47.xml" Type="http://schemas.openxmlformats.org/officeDocument/2006/relationships/slide"/><Relationship Id="rId71" Target="slides/slide48.xml" Type="http://schemas.openxmlformats.org/officeDocument/2006/relationships/slide"/><Relationship Id="rId72" Target="slides/slide49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4250" y="4010878"/>
            <a:ext cx="16105050" cy="304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774"/>
              </a:lnSpc>
            </a:pPr>
            <a:r>
              <a:rPr lang="en-US" sz="5499">
                <a:solidFill>
                  <a:srgbClr val="250542"/>
                </a:solidFill>
                <a:latin typeface="29LT Zarid Text"/>
              </a:rPr>
              <a:t>Module 2</a:t>
            </a:r>
          </a:p>
          <a:p>
            <a:pPr>
              <a:lnSpc>
                <a:spcPts val="5774"/>
              </a:lnSpc>
            </a:pPr>
            <a:r>
              <a:rPr lang="en-US" sz="5499">
                <a:solidFill>
                  <a:srgbClr val="250542"/>
                </a:solidFill>
                <a:latin typeface="29LT Zarid Text"/>
              </a:rPr>
              <a:t>Lecture 7</a:t>
            </a:r>
          </a:p>
          <a:p>
            <a:pPr>
              <a:lnSpc>
                <a:spcPts val="5774"/>
              </a:lnSpc>
            </a:pPr>
          </a:p>
          <a:p>
            <a:pPr marL="0" indent="0" lvl="0">
              <a:lnSpc>
                <a:spcPts val="5565"/>
              </a:lnSpc>
            </a:pPr>
            <a:r>
              <a:rPr lang="en-US" sz="5300">
                <a:solidFill>
                  <a:srgbClr val="250542"/>
                </a:solidFill>
                <a:latin typeface="29LT Zarid Text"/>
              </a:rPr>
              <a:t>Advanced Linux Commands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9349442" y="6232050"/>
          <a:ext cx="3687123" cy="1516827"/>
        </p:xfrm>
        <a:graphic>
          <a:graphicData uri="http://schemas.openxmlformats.org/drawingml/2006/table">
            <a:tbl>
              <a:tblPr/>
              <a:tblGrid>
                <a:gridCol w="737425"/>
                <a:gridCol w="737425"/>
                <a:gridCol w="737425"/>
                <a:gridCol w="737425"/>
                <a:gridCol w="737425"/>
              </a:tblGrid>
              <a:tr h="252804"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804"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804"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804"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804"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804"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cPr>
                    <a:lnL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14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9385761" y="6269347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htop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85761" y="6777810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chown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94841" y="7286273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init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38390" y="7286273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nohup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45620" y="7286273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xargs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98249" y="7286273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chroot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532718" y="7286273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tty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74533" y="6777810"/>
            <a:ext cx="1071263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chmod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54700" y="6777810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cron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89169" y="6759650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ping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41798" y="6777810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nslookup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38390" y="6269347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atop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45620" y="6269347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netstat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98249" y="6269347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iftop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41798" y="6269347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nload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94841" y="7844675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fsck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94841" y="8353138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mkfs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60974" y="8861601"/>
            <a:ext cx="429441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kill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47470" y="8861601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sysctl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54700" y="8861601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service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007328" y="8861601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ssh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541798" y="8861601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scp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47470" y="8353138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top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63779" y="8353138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free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98249" y="8334978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man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550877" y="8353138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ps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47470" y="7844675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sed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54700" y="7844675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awk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007328" y="7844675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mailq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550877" y="7844675"/>
            <a:ext cx="1543549" cy="43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383">
                <a:solidFill>
                  <a:srgbClr val="250542"/>
                </a:solidFill>
                <a:latin typeface="Mont Bold"/>
              </a:rPr>
              <a:t>dig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1697355"/>
            <a:ext cx="13889942" cy="1316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080"/>
              </a:lnSpc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Cloud Solution Architect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12461932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Recap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23744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2 - Lecture 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3014" y="4051300"/>
            <a:ext cx="16636286" cy="209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Linux Permissions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Disk Partition / Logical Volume Management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Run levels / init / systemd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12461932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Learning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23744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2 - Lecture 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108575"/>
            <a:ext cx="16636286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Advanced commands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htop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2609" y="3154093"/>
            <a:ext cx="16576691" cy="400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htop</a:t>
            </a:r>
            <a:r>
              <a:rPr lang="en-US" sz="3989">
                <a:solidFill>
                  <a:srgbClr val="250542"/>
                </a:solidFill>
                <a:latin typeface="Vesper Libre Regular"/>
              </a:rPr>
              <a:t>: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interactively monitor the system's vital resources and processes in real-time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the newer program compared to the "top" command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supports mouse operation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uses colors in the output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visual indications about processor, memory and swap usage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htop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2609" y="2582593"/>
            <a:ext cx="16576691" cy="515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htop</a:t>
            </a:r>
            <a:r>
              <a:rPr lang="en-US" sz="3989">
                <a:solidFill>
                  <a:srgbClr val="250542"/>
                </a:solidFill>
                <a:latin typeface="Vesper Libre Regular"/>
              </a:rPr>
              <a:t>: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To scroll process list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</a:t>
            </a:r>
            <a:r>
              <a:rPr lang="en-US" sz="3989">
                <a:solidFill>
                  <a:srgbClr val="250542"/>
                </a:solidFill>
                <a:latin typeface="Vesper Libre Regular"/>
              </a:rPr>
              <a:t>p / Down / Page Up / Page Down / Home / End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Tag or Untag a proecss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Space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Process System Calls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scroll to the process and press 's'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Return from Process System Calls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'q' or 'Esc'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htop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2609" y="1980893"/>
            <a:ext cx="16576691" cy="800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htop</a:t>
            </a:r>
            <a:r>
              <a:rPr lang="en-US" sz="3989">
                <a:solidFill>
                  <a:srgbClr val="250542"/>
                </a:solidFill>
                <a:latin typeface="Vesper Libre Regular"/>
              </a:rPr>
              <a:t>: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Help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F1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Setup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F2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Set Meters</a:t>
            </a:r>
          </a:p>
          <a:p>
            <a:pPr marL="4306436" indent="-717739" lvl="5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Types are Bar, Text, LED, Graph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Set Display Options</a:t>
            </a:r>
          </a:p>
          <a:p>
            <a:pPr marL="4306436" indent="-717739" lvl="5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Setting the default display options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Set Color Scheme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Set Columns to be viewed 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Other Available Operations; Search, Filter, Tree, SortBy, Kill, Quit, Increase or Decrease Process Priority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Menu Available at the bottom of the output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htop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2609" y="1980893"/>
            <a:ext cx="16576691" cy="800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htop</a:t>
            </a:r>
            <a:r>
              <a:rPr lang="en-US" sz="3989">
                <a:solidFill>
                  <a:srgbClr val="250542"/>
                </a:solidFill>
                <a:latin typeface="Vesper Libre Regular"/>
              </a:rPr>
              <a:t>: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Help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F1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Setup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F2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Set Meters</a:t>
            </a:r>
          </a:p>
          <a:p>
            <a:pPr marL="4306436" indent="-717739" lvl="5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Types are Bar, Text, LED, Graph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Set Display Options</a:t>
            </a:r>
          </a:p>
          <a:p>
            <a:pPr marL="4306436" indent="-717739" lvl="5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Setting the default display options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Set Color Scheme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Set Columns to be viewed 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Other Available Operations; Search, Filter, Tree, SortBy, Kill, Quit, Increase or Decrease Process Priority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Menu Available at the bottom of the output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htop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2609" y="2946666"/>
            <a:ext cx="16576691" cy="515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Understanding htop Output</a:t>
            </a:r>
            <a:r>
              <a:rPr lang="en-US" sz="3989">
                <a:solidFill>
                  <a:srgbClr val="250542"/>
                </a:solidFill>
                <a:latin typeface="Vesper Libre Regular"/>
              </a:rPr>
              <a:t>: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 Information about the CPU cores and their usage separately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These bars are Numbered, and shows the number of CPU cores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Having percentage near to 0 means less load, whereas having near to 100 means max load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Color Coding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Red = Kernel Processes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Green = Normal User Processes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Blue = Low Priority Processes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htop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2609" y="2393410"/>
            <a:ext cx="16576691" cy="686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Understanding htop Output</a:t>
            </a:r>
            <a:r>
              <a:rPr lang="en-US" sz="3989">
                <a:solidFill>
                  <a:srgbClr val="250542"/>
                </a:solidFill>
                <a:latin typeface="Vesper Libre Regular"/>
              </a:rPr>
              <a:t>: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Next Bar is Marked as 'Mem', shows the usage of the Memory (RAM)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It shows the memory used / total memory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Color Coding: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Green = Used Memory Pages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Blue = Buffer Pages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Yellow = Cache Pages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The next Bar is Marked as 'Swp'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Shows the  amount of swap used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When Physical memory is full, inactive pages are moved to swp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Color Coding: Red = Used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htop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2609" y="2501933"/>
            <a:ext cx="16576691" cy="572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Understanding htop Output</a:t>
            </a:r>
            <a:r>
              <a:rPr lang="en-US" sz="3989">
                <a:solidFill>
                  <a:srgbClr val="250542"/>
                </a:solidFill>
                <a:latin typeface="Vesper Libre Regular"/>
              </a:rPr>
              <a:t>: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Tasks are the number of processes.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'thr' is the number of threads these processes are divided into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Running shows the number of threads running at the moment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Load Average is the load at the CPU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1.00 is max for each core and 0.00 is min. Number increase with the number of cores, means 4 core will have a max of 4.00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First value is the load for last 1 minute, second value is for 5 minutes, and third value is for 15 minutes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Uptime is the time since the machine is up.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087470"/>
            <a:ext cx="18288000" cy="8550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Understanding htop Output</a:t>
            </a:r>
            <a:r>
              <a:rPr lang="en-US" sz="3989">
                <a:solidFill>
                  <a:srgbClr val="250542"/>
                </a:solidFill>
                <a:latin typeface="Vesper Libre Regular"/>
              </a:rPr>
              <a:t>: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The Bottom section contains the information about the individual processes. The information available in this section is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Process ID (PID)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Owner of the process (User)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Kernel's Priority for the process (PRI)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Nice Value, Higher means more priority (NI)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Total Program Size in Virtual Memory (VIRT)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Resident Size Set; Text, data sections, and stack usage (RES)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Size of Process's Shared Pages (SHR)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Process State (S)</a:t>
            </a:r>
          </a:p>
          <a:p>
            <a:pPr marL="3281682" indent="-656336" lvl="4">
              <a:lnSpc>
                <a:spcPts val="4294"/>
              </a:lnSpc>
              <a:buFont typeface="Arial"/>
              <a:buChar char="•"/>
            </a:pPr>
            <a:r>
              <a:rPr lang="en-US" sz="3800">
                <a:solidFill>
                  <a:srgbClr val="250542"/>
                </a:solidFill>
                <a:latin typeface="Vesper Libre Regular"/>
              </a:rPr>
              <a:t>Sleeping S, Running R, Disk D, Zombie Z, Traced T, Paging W, Idle I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Percentage of CPU time used by the process in the last sampling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Percentage of Memory the process used, based on resident memory size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Command that triggered the process.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iftop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2609" y="2787683"/>
            <a:ext cx="16822997" cy="515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iftop?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Tool for viewing connections, current bandwidth on a network interface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by default, it shows connections on ethernet interface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To select any other interface, use the command with '-i' option followed by the interface name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 'p' to toggle port display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 'P' to pause / resume display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 'H' or '?' for help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iftop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2609" y="2216183"/>
            <a:ext cx="16822997" cy="629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Understanding iftop output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Each connection is displayed in two lines. First from your machine to the connected machine (=&gt;), followed by a line in reverse (&lt;=)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iftop command shows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Connection to and from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Data Transfer rate (sent or received) in 2 seconds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Data Transfer rate (sent or received) in 10 seconds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Data Transfer rate (sent or received) in 40 seconds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Cumulative Transmitted (TX) and Received (RX)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Peak Transmitted and Received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Total Transfer rate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atop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2609" y="3359183"/>
            <a:ext cx="16822997" cy="400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atop?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Tool for monitoring system resources in Linux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Provides real-time insights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detailed view of processes using most CPU, Memory, Storage, or  Network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Understanding the atop command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u="sng" sz="3989">
                <a:solidFill>
                  <a:srgbClr val="250542"/>
                </a:solidFill>
                <a:latin typeface="Vesper Libre Regular"/>
              </a:rPr>
              <a:t>https://linux.die.net/man/1/atop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netstat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2609" y="2787683"/>
            <a:ext cx="16822997" cy="515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netstat?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Displays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network connections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protocol statistics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Status of TCP and UDP endpoints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Routing Tables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Network interfaces statistics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masquerade connections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multicast memberships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netstat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1996439"/>
            <a:ext cx="16822997" cy="800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netstat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check the version of netstat using --version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Display routing tables using -r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the routing table is the table stored in a router or a network host that lists the routes to particular network destinations.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Display interface statistics using -i 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It will show the OK, error and drop packets sent and received from each network interface in the system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Display listening connections -l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Display UDP connections -u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Display TCP connections -t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Display Program ID -p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Display numeric values of the hosts -n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Multiple options can be used for different outputs e.g -antp, -pnltu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nload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2609" y="2787683"/>
            <a:ext cx="16822997" cy="515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nload?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real-time network bandwidth and traffic on a network interface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Displays incoming and outgoing traffic using graph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Shows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current bandwidth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Average bandwidth (300 seconds)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Minimum bandwidth (300 seconds)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Maximum bandwidth (300 seconds)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Total transferred data on the interface since the system is up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nload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2609" y="2501933"/>
            <a:ext cx="16822997" cy="572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nload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Different options can be used for different outputs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-i [number] : This will set the maximum value for the incoming graph, default 10240 (10MB)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-o [number] : same as -i but for outgoing graph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-t [interval] : to set the interval to refresh the output, set in milliseconds, default 500 (half second)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-u [h|b|k|m|g]: used to set the unit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h=auto, b=bits, k=kilobits, m=megabits, g=gigabits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all the units can be set in capital letters as well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cron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2609" y="2787683"/>
            <a:ext cx="16822997" cy="515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cron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known as cron, is a job scheduler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used to run jobs periodically at fixed times, dates, or intervals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a daemon process runs as a background process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performs specified operations at a predefined time or occurrence of an event without the intervention of the user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used to automate repeated tasks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It starts automatically from /etc/init.d on entering the multi-user run levels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cron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2609" y="1930433"/>
            <a:ext cx="16822997" cy="686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cron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crontab is a list of commands to execute the scheduled tasks at a specific time.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allows adding, removing and modifying the scheduled tasks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it has 6 fields, where the first 5 represent the time to run the task and the last one is for the command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Minute (value between 0-59)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Hour (value between 0-23)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Day of Month (value between 1-31)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The month of the year (value between 1-12 or Jan-Dec)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Day of the week (value between 0-6 or Sun-Sat)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Command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cron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1718088"/>
            <a:ext cx="16822997" cy="800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cron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if * is put in any of the first 5 fields, it means all the values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range of number can be used with a hyphen (-)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a comma can be used to include a list of numbers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slash (/) can be used to skip a given number of values e.g */4 in hours means every 4 hours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To permit a user to run cron jobs, list it in /etc/cron.allow file, if this file doesn't exist, and /etc/cron.deny exist, make sure the user is not in that file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if both files don't exist, only the superuser is allowed to use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run a command from 09:00 AM to 09:00 PM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00 09-21 * * * command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run a command every year on 1st January at 12:05 AM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05 00 1 1 * command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74286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nohup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2679160"/>
            <a:ext cx="16822997" cy="629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nohup?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nohup means "no hang-up"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hup ("hang up") is a signal sent to a process when its controlling terminal is closed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This command is used to keep a process running even if the user logs out or the terminal is closed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Output that normally goes to the terminal, goes to a file called nohup.out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nohup [command] &gt; file.out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using this the command's output can be redirected to file.out instead of nohup.out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74286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xargs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4393660"/>
            <a:ext cx="16822997" cy="286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xargs?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a unix command used to build and execute commands from standard input.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some commands accept input as parameters, while some accept arguments, this is where xargs is used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74286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chroot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3822160"/>
            <a:ext cx="16822997" cy="400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chroot?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the command used to change the root directory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changes the root directory for currently running processes as well as its child processes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Process/command running in such an environment cannot access files outside the root directory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The modified environment is known as chroot jail or jailed directory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74286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chroot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3250660"/>
            <a:ext cx="16822997" cy="515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can be useful to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create test environment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recover the system or password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reinstall the bootloader</a:t>
            </a:r>
          </a:p>
          <a:p>
            <a:pPr>
              <a:lnSpc>
                <a:spcPts val="4507"/>
              </a:lnSpc>
            </a:pPr>
          </a:p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Syntax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chroot [path-to-new-root] command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chroot [path-to-new-root] [path-to-server]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chroot [options] [path-to-new-root] [path-to-server]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74286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chroot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948698" y="2133943"/>
            <a:ext cx="14390603" cy="774727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tty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3725593"/>
            <a:ext cx="16822997" cy="286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tty?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known as TeleTYpewriter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prints the file name of the terminal connected to standard input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Allows to interact with the system, passing input to the system and displaying output produced by the system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fsck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2106076"/>
            <a:ext cx="16822997" cy="743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fsck?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File System Consistency Checker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tool to check the consistency of a file system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attempts to check the root file system before any other file system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used to find and repair inconsistencies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tries to find suspect superblock and use an alternate copy instead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requires little overhead space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scanning large disks, again and again, is slow and infeasible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requires heavy understanding and knowledge of the filesystem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allows a manual check for file system inconsistencies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sudo fsck /dev/sda2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checks the file system mounted onto the /dev/sda2 partition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if inconsistencies are found, it prompts with possible actions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74286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nslookup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3725593"/>
            <a:ext cx="16822997" cy="286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nslookup?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Network administration tool to get information from the DNS server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used to obtain domain name, or IP address mapping or any other DNS record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Also used to troubleshoot DNS related problems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74286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nslookup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2393410"/>
            <a:ext cx="16822997" cy="686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nslookup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nslookup [domain-name] will display the "A record" (IP Address) of the domain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nslookup [IP-Address] will display the reverse dns lookup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nslookup -type=any [domain-name] will display all available DNS records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nslookup -type=ns [domain-name] will display nameserver record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nslookup -type=a [domain-name] will display A records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nslookup -type=mx [domain-name] will display mail exchange records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nslookup -type=txt [domain-name] will display the txt records like DKIM, SPF, DMARC etc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dig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4106326"/>
            <a:ext cx="16822997" cy="343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dig?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Domain Information Groper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used for retrieving information about DNS nameservers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used for verifying and troubleshooting DNS problems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used for performing DNS lookups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dig [server] [name] [type]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dig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3249076"/>
            <a:ext cx="16822997" cy="515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dig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dig google.com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Give A record with complete output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dig google.com [options]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+short will only print the IP address in A record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+nocomments will remove the comments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+answer will print the Answer section only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ANY will give all the DNS records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MX will give the mail server DNS records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7140"/>
            <a:ext cx="16230600" cy="91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006"/>
              </a:lnSpc>
              <a:spcBef>
                <a:spcPct val="0"/>
              </a:spcBef>
            </a:pPr>
            <a:r>
              <a:rPr lang="en-US" sz="6200">
                <a:solidFill>
                  <a:srgbClr val="250542"/>
                </a:solidFill>
                <a:latin typeface="Vesper Libre Regular"/>
              </a:rPr>
              <a:t>System administration commands - traceroute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4106326"/>
            <a:ext cx="16822997" cy="343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traceroute?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prints the route a packet takes to reach the host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provides the information about all the hops a packet takes while reaching the host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Syntax: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traceroute [options] host_address [pathlength]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7140"/>
            <a:ext cx="16230600" cy="91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006"/>
              </a:lnSpc>
              <a:spcBef>
                <a:spcPct val="0"/>
              </a:spcBef>
            </a:pPr>
            <a:r>
              <a:rPr lang="en-US" sz="6200">
                <a:solidFill>
                  <a:srgbClr val="250542"/>
                </a:solidFill>
                <a:latin typeface="Vesper Libre Regular"/>
              </a:rPr>
              <a:t>System administration commands - traceroute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1820326"/>
            <a:ext cx="16822997" cy="800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traceroute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traceroute -4 google.com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 IPv4. (using -6 instead will use IPv6)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traceroute -F google.com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will not fragment packet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traceroute -f first_ttl google.com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will start from the first_ttl hop. if the value is 5, hops data will be printed from hop number 5 onwards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traceroute -m [number] google.com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set the number of hops to reach the destination, default 30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traceroute google.com [packet_size]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set full packet length, default is 60-byte packet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traceroute -n google.com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Do not resolve IP addresses to their domain names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mkfs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3820576"/>
            <a:ext cx="16822997" cy="400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mkfs?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make file system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used to format a block storage device with a specific file system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after creating a partition in a device, use mkfs to create a filesystem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Syntax: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mkfs -t [fs-option] device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mkfs.fs-option device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free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3534826"/>
            <a:ext cx="16822997" cy="457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free?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used to get a detailed report on system memory usage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Displays amount of free and used memory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can be used with -b, -k, -m, -g for output in bytes, kilobytes, megabytes, and gigabytes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-t is used to display total as well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-s is used for intervals in seconds, used with -c for the count of the number of outputs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2391826"/>
            <a:ext cx="16822997" cy="686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ps?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Process Status </a:t>
            </a:r>
            <a:r>
              <a:rPr lang="en-US" sz="3989">
                <a:solidFill>
                  <a:srgbClr val="250542"/>
                </a:solidFill>
                <a:latin typeface="Vesper Libre Regular"/>
              </a:rPr>
              <a:t>is used to view information about processes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list the running processes and their PIDs with some information based on different options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Syntax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ps [options]</a:t>
            </a:r>
          </a:p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ps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Processes for the current shell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the output will have PID, TTY, Time, CMD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ps -A or ps -e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View all the running processes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1820326"/>
            <a:ext cx="16822997" cy="800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ps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ps -a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all processes except session leaders and processes not associated with a terminal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a unique session is assigned to every process group, session leader is a process that kicks off other processes, PID of any session is similar to the session ID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ps -r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View the currently running process(es)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ps -x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processes owned by the current user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ps -C [command_name]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lists the processes based on the command name provided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ps -G [Group_Name] or ps -g [Group ID]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2677576"/>
            <a:ext cx="16822997" cy="629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ps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ps -p [Procees_ID]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lists the process with process ID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ps -s [session_ID]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lists all the processes in a session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ps -t [tty]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lists the processes with a specific terminal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ps [options] --format [column_name]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display the information in a modified sequence of table columns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%mem and %cpu columns can also be added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processes can be </a:t>
            </a:r>
            <a:r>
              <a:rPr lang="en-US" sz="3989">
                <a:solidFill>
                  <a:srgbClr val="250542"/>
                </a:solidFill>
                <a:latin typeface="Vesper Libre Regular"/>
              </a:rPr>
              <a:t>sorted using --sort=column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kill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4392076"/>
            <a:ext cx="16822997" cy="286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kill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used to terminate a process manually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sends a signal to a process which terminates the process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if the signal is not specified, by default, a TERM signal is sent that terminates the process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5484"/>
            <a:ext cx="16230600" cy="95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System administration commands - kill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2677576"/>
            <a:ext cx="16822997" cy="629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kill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kill -l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display the available signals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These signals can be specified in the kill command in three ways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by number (e.g. -9)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with SIG prefix (e.g. -SIGkill)</a:t>
            </a:r>
          </a:p>
          <a:p>
            <a:pPr marL="3445149" indent="-689030" lvl="4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without SIG prefix (e.g. -kill)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kill PID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kill the process with the PID specified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kill -s signal pid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send a specific signal to the process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6251"/>
            <a:ext cx="16230600" cy="91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119"/>
              </a:lnSpc>
              <a:spcBef>
                <a:spcPct val="0"/>
              </a:spcBef>
            </a:pPr>
            <a:r>
              <a:rPr lang="en-US" sz="6300">
                <a:solidFill>
                  <a:srgbClr val="250542"/>
                </a:solidFill>
                <a:latin typeface="Vesper Libre Regular"/>
              </a:rPr>
              <a:t>System administration commands - systemctl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2391826"/>
            <a:ext cx="16822997" cy="686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systemctl?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used to examine and control the state of systemd and service manager</a:t>
            </a:r>
          </a:p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Syntax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systemctl [OPTIONS] COMMAND [NAME...]</a:t>
            </a:r>
          </a:p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systemctl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systemctl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list all the devices, mounts, path, scope, services, slice, sockets, swap, target, and timer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Shows Unit name, Description, LOAD (if properly loaded or not), ACTIVE (High-level unit activation state), SUB (Low-level unit activation state)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6251"/>
            <a:ext cx="16230600" cy="91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119"/>
              </a:lnSpc>
              <a:spcBef>
                <a:spcPct val="0"/>
              </a:spcBef>
            </a:pPr>
            <a:r>
              <a:rPr lang="en-US" sz="6300">
                <a:solidFill>
                  <a:srgbClr val="250542"/>
                </a:solidFill>
                <a:latin typeface="Vesper Libre Regular"/>
              </a:rPr>
              <a:t>System administration commands - systemctl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2677576"/>
            <a:ext cx="16822997" cy="629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systemctl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 options like -t for type, -a for all, -i to ignore inhibitor locks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using command list-units will list all the units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using command list-sockets will list all the sockets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start-stop-reload-restart, are used to perform specified operations for a service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status command will show the status of all services, however status of a specific service can be viewed by specifying the name of the service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enable and disable are used for enabling and disabling unit files or their instances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6251"/>
            <a:ext cx="16230600" cy="91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119"/>
              </a:lnSpc>
              <a:spcBef>
                <a:spcPct val="0"/>
              </a:spcBef>
            </a:pPr>
            <a:r>
              <a:rPr lang="en-US" sz="6300">
                <a:solidFill>
                  <a:srgbClr val="250542"/>
                </a:solidFill>
                <a:latin typeface="Vesper Libre Regular"/>
              </a:rPr>
              <a:t>System administration commands - ethtool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3725593"/>
            <a:ext cx="16822997" cy="286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ethtool?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display and modify network interface controllers (NICs) parameters and device driver software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shows the supported ports, supported options, advertised options, Speed, Duplex, Port, and Link Detected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6251"/>
            <a:ext cx="16230600" cy="91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119"/>
              </a:lnSpc>
              <a:spcBef>
                <a:spcPct val="0"/>
              </a:spcBef>
            </a:pPr>
            <a:r>
              <a:rPr lang="en-US" sz="6300">
                <a:solidFill>
                  <a:srgbClr val="250542"/>
                </a:solidFill>
                <a:latin typeface="Vesper Libre Regular"/>
              </a:rPr>
              <a:t>System administration commands - ip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2106076"/>
            <a:ext cx="16822997" cy="743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What is ip?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ip stands for Internet Protocol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used to identify IP address and details for a network interface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used to perform several tasks like assigning an address to a network interface or configuring network interface parameters</a:t>
            </a:r>
          </a:p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ip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ip a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equivalent to ip address, shows the ip addresses associated to network interfaces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ip a show [interface-name]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to show specific interface details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ip link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to display link layer information, addin -s option will add stats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6251"/>
            <a:ext cx="16230600" cy="91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119"/>
              </a:lnSpc>
              <a:spcBef>
                <a:spcPct val="0"/>
              </a:spcBef>
            </a:pPr>
            <a:r>
              <a:rPr lang="en-US" sz="6300">
                <a:solidFill>
                  <a:srgbClr val="250542"/>
                </a:solidFill>
                <a:latin typeface="Vesper Libre Regular"/>
              </a:rPr>
              <a:t>System administration commands - ip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303" y="3249076"/>
            <a:ext cx="16822997" cy="515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1287" indent="-430644" lvl="1">
              <a:lnSpc>
                <a:spcPts val="4507"/>
              </a:lnSpc>
              <a:buFont typeface="Arial"/>
              <a:buChar char="•"/>
            </a:pPr>
            <a:r>
              <a:rPr lang="en-US" sz="3989">
                <a:solidFill>
                  <a:srgbClr val="250542"/>
                </a:solidFill>
                <a:latin typeface="Vesper Libre Regular Bold"/>
              </a:rPr>
              <a:t>Using ip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ip a add [ip-address] dev [interface]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adds ip address to an interface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ip a del [ip-address] dev [interface]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deletes</a:t>
            </a:r>
            <a:r>
              <a:rPr lang="en-US" sz="3989">
                <a:solidFill>
                  <a:srgbClr val="250542"/>
                </a:solidFill>
                <a:latin typeface="Vesper Libre Regular"/>
              </a:rPr>
              <a:t> ip address from an interface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ip link set [interface-name] up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enable network interface</a:t>
            </a:r>
          </a:p>
          <a:p>
            <a:pPr marL="1722574" indent="-574191" lvl="2">
              <a:lnSpc>
                <a:spcPts val="4507"/>
              </a:lnSpc>
              <a:buFont typeface="Arial"/>
              <a:buChar char="⚬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ip link set [interface-name] down</a:t>
            </a:r>
          </a:p>
          <a:p>
            <a:pPr marL="2583862" indent="-645965" lvl="3">
              <a:lnSpc>
                <a:spcPts val="4507"/>
              </a:lnSpc>
              <a:buFont typeface="Arial"/>
              <a:buChar char="￭"/>
            </a:pPr>
            <a:r>
              <a:rPr lang="en-US" sz="3989">
                <a:solidFill>
                  <a:srgbClr val="250542"/>
                </a:solidFill>
                <a:latin typeface="Vesper Libre Regular"/>
              </a:rPr>
              <a:t>disable network interface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12461932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Learning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74709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2 - Lecture 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108575"/>
            <a:ext cx="16636286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Advanced commands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12461932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Next Lecture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74709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2 - Lecture 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98875"/>
            <a:ext cx="16636286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SSH server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Firewall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Iptables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web server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0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2131835" y="504814"/>
            <a:ext cx="13790991" cy="9102054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4898073" y="4287945"/>
            <a:ext cx="8404922" cy="1472586"/>
            <a:chOff x="0" y="0"/>
            <a:chExt cx="1302142" cy="228142"/>
          </a:xfrm>
        </p:grpSpPr>
        <p:sp>
          <p:nvSpPr>
            <p:cNvPr name="Freeform 4" id="4"/>
            <p:cNvSpPr/>
            <p:nvPr/>
          </p:nvSpPr>
          <p:spPr>
            <a:xfrm>
              <a:off x="0" y="0"/>
              <a:ext cx="1302142" cy="228142"/>
            </a:xfrm>
            <a:custGeom>
              <a:avLst/>
              <a:gdLst/>
              <a:ahLst/>
              <a:cxnLst/>
              <a:rect r="r" b="b" t="t" l="l"/>
              <a:pathLst>
                <a:path h="228142" w="1302142">
                  <a:moveTo>
                    <a:pt x="0" y="0"/>
                  </a:moveTo>
                  <a:lnTo>
                    <a:pt x="1302142" y="0"/>
                  </a:lnTo>
                  <a:lnTo>
                    <a:pt x="1302142" y="228142"/>
                  </a:lnTo>
                  <a:lnTo>
                    <a:pt x="0" y="228142"/>
                  </a:lnTo>
                  <a:close/>
                </a:path>
              </a:pathLst>
            </a:custGeom>
            <a:solidFill>
              <a:srgbClr val="2505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9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4583619"/>
            <a:ext cx="16230600" cy="117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53"/>
              </a:lnSpc>
              <a:spcBef>
                <a:spcPct val="0"/>
              </a:spcBef>
            </a:pPr>
            <a:r>
              <a:rPr lang="en-US" sz="8100">
                <a:solidFill>
                  <a:srgbClr val="D9D9D9"/>
                </a:solidFill>
                <a:latin typeface="Vesper Libre Regular Bold"/>
              </a:rPr>
              <a:t>Ask Questions!!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DAE-aD-cnXo</dc:identifier>
  <dcterms:modified xsi:type="dcterms:W3CDTF">2011-08-01T06:04:30Z</dcterms:modified>
  <cp:revision>1</cp:revision>
  <dc:title>CSA-lecture 7</dc:title>
</cp:coreProperties>
</file>