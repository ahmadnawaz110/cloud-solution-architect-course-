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286" r:id="rId50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Times Neue Roman" charset="1" panose="00000500000000000000"/>
      <p:regular r:id="rId10"/>
    </p:embeddedFont>
    <p:embeddedFont>
      <p:font typeface="Times Neue Roman Bold" charset="1" panose="00000800000000000000"/>
      <p:regular r:id="rId11"/>
    </p:embeddedFont>
    <p:embeddedFont>
      <p:font typeface="Times Neue Roman Italics" charset="1" panose="00000500000000000000"/>
      <p:regular r:id="rId12"/>
    </p:embeddedFont>
    <p:embeddedFont>
      <p:font typeface="Times Neue Roman Bold Italics" charset="1" panose="00000800000000000000"/>
      <p:regular r:id="rId13"/>
    </p:embeddedFont>
    <p:embeddedFont>
      <p:font typeface="Vesper Libre Regular" charset="1" panose="00000500000000000000"/>
      <p:regular r:id="rId14"/>
    </p:embeddedFont>
    <p:embeddedFont>
      <p:font typeface="Vesper Libre Regular Bold" charset="1" panose="00000600000000000000"/>
      <p:regular r:id="rId15"/>
    </p:embeddedFont>
    <p:embeddedFont>
      <p:font typeface="29LT Zarid Text" charset="1" panose="00000500000000000000"/>
      <p:regular r:id="rId16"/>
    </p:embeddedFont>
    <p:embeddedFont>
      <p:font typeface="29LT Zarid Text Bold" charset="1" panose="00000800000000000000"/>
      <p:regular r:id="rId17"/>
    </p:embeddedFont>
    <p:embeddedFont>
      <p:font typeface="29LT Zarid Text Italics" charset="1" panose="00000500000000000000"/>
      <p:regular r:id="rId18"/>
    </p:embeddedFont>
    <p:embeddedFont>
      <p:font typeface="29LT Zarid Text Bold Italics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slides/slide1.xml" Type="http://schemas.openxmlformats.org/officeDocument/2006/relationships/slide"/><Relationship Id="rId21" Target="slides/slide2.xml" Type="http://schemas.openxmlformats.org/officeDocument/2006/relationships/slide"/><Relationship Id="rId22" Target="slides/slide3.xml" Type="http://schemas.openxmlformats.org/officeDocument/2006/relationships/slide"/><Relationship Id="rId23" Target="slides/slide4.xml" Type="http://schemas.openxmlformats.org/officeDocument/2006/relationships/slide"/><Relationship Id="rId24" Target="slides/slide5.xml" Type="http://schemas.openxmlformats.org/officeDocument/2006/relationships/slide"/><Relationship Id="rId25" Target="slides/slide6.xml" Type="http://schemas.openxmlformats.org/officeDocument/2006/relationships/slide"/><Relationship Id="rId26" Target="slides/slide7.xml" Type="http://schemas.openxmlformats.org/officeDocument/2006/relationships/slide"/><Relationship Id="rId27" Target="slides/slide8.xml" Type="http://schemas.openxmlformats.org/officeDocument/2006/relationships/slide"/><Relationship Id="rId28" Target="slides/slide9.xml" Type="http://schemas.openxmlformats.org/officeDocument/2006/relationships/slide"/><Relationship Id="rId29" Target="slides/slide10.xml" Type="http://schemas.openxmlformats.org/officeDocument/2006/relationships/slide"/><Relationship Id="rId3" Target="viewProps.xml" Type="http://schemas.openxmlformats.org/officeDocument/2006/relationships/viewProps"/><Relationship Id="rId30" Target="slides/slide11.xml" Type="http://schemas.openxmlformats.org/officeDocument/2006/relationships/slide"/><Relationship Id="rId31" Target="slides/slide12.xml" Type="http://schemas.openxmlformats.org/officeDocument/2006/relationships/slide"/><Relationship Id="rId32" Target="slides/slide13.xml" Type="http://schemas.openxmlformats.org/officeDocument/2006/relationships/slide"/><Relationship Id="rId33" Target="slides/slide14.xml" Type="http://schemas.openxmlformats.org/officeDocument/2006/relationships/slide"/><Relationship Id="rId34" Target="slides/slide15.xml" Type="http://schemas.openxmlformats.org/officeDocument/2006/relationships/slide"/><Relationship Id="rId35" Target="slides/slide16.xml" Type="http://schemas.openxmlformats.org/officeDocument/2006/relationships/slide"/><Relationship Id="rId36" Target="slides/slide17.xml" Type="http://schemas.openxmlformats.org/officeDocument/2006/relationships/slide"/><Relationship Id="rId37" Target="slides/slide18.xml" Type="http://schemas.openxmlformats.org/officeDocument/2006/relationships/slide"/><Relationship Id="rId38" Target="slides/slide19.xml" Type="http://schemas.openxmlformats.org/officeDocument/2006/relationships/slide"/><Relationship Id="rId39" Target="slides/slide20.xml" Type="http://schemas.openxmlformats.org/officeDocument/2006/relationships/slide"/><Relationship Id="rId4" Target="theme/theme1.xml" Type="http://schemas.openxmlformats.org/officeDocument/2006/relationships/theme"/><Relationship Id="rId40" Target="slides/slide21.xml" Type="http://schemas.openxmlformats.org/officeDocument/2006/relationships/slide"/><Relationship Id="rId41" Target="slides/slide22.xml" Type="http://schemas.openxmlformats.org/officeDocument/2006/relationships/slide"/><Relationship Id="rId42" Target="slides/slide23.xml" Type="http://schemas.openxmlformats.org/officeDocument/2006/relationships/slide"/><Relationship Id="rId43" Target="slides/slide24.xml" Type="http://schemas.openxmlformats.org/officeDocument/2006/relationships/slide"/><Relationship Id="rId44" Target="slides/slide25.xml" Type="http://schemas.openxmlformats.org/officeDocument/2006/relationships/slide"/><Relationship Id="rId45" Target="slides/slide26.xml" Type="http://schemas.openxmlformats.org/officeDocument/2006/relationships/slide"/><Relationship Id="rId46" Target="slides/slide27.xml" Type="http://schemas.openxmlformats.org/officeDocument/2006/relationships/slide"/><Relationship Id="rId47" Target="slides/slide28.xml" Type="http://schemas.openxmlformats.org/officeDocument/2006/relationships/slide"/><Relationship Id="rId48" Target="slides/slide29.xml" Type="http://schemas.openxmlformats.org/officeDocument/2006/relationships/slide"/><Relationship Id="rId49" Target="slides/slide30.xml" Type="http://schemas.openxmlformats.org/officeDocument/2006/relationships/slide"/><Relationship Id="rId5" Target="tableStyles.xml" Type="http://schemas.openxmlformats.org/officeDocument/2006/relationships/tableStyles"/><Relationship Id="rId50" Target="slides/slide31.xml" Type="http://schemas.openxmlformats.org/officeDocument/2006/relationships/slide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697355"/>
            <a:ext cx="13889942" cy="1316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080"/>
              </a:lnSpc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Cloud Solution Architect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54250" y="4010878"/>
            <a:ext cx="16105050" cy="304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774"/>
              </a:lnSpc>
            </a:pPr>
            <a:r>
              <a:rPr lang="en-US" sz="5499">
                <a:solidFill>
                  <a:srgbClr val="250542"/>
                </a:solidFill>
                <a:latin typeface="29LT Zarid Text"/>
              </a:rPr>
              <a:t>Module 2</a:t>
            </a:r>
          </a:p>
          <a:p>
            <a:pPr>
              <a:lnSpc>
                <a:spcPts val="5774"/>
              </a:lnSpc>
            </a:pPr>
            <a:r>
              <a:rPr lang="en-US" sz="5499">
                <a:solidFill>
                  <a:srgbClr val="250542"/>
                </a:solidFill>
                <a:latin typeface="29LT Zarid Text"/>
              </a:rPr>
              <a:t>Lecture 8</a:t>
            </a:r>
          </a:p>
          <a:p>
            <a:pPr>
              <a:lnSpc>
                <a:spcPts val="5774"/>
              </a:lnSpc>
            </a:pPr>
          </a:p>
          <a:p>
            <a:pPr marL="0" indent="0" lvl="0">
              <a:lnSpc>
                <a:spcPts val="5565"/>
              </a:lnSpc>
            </a:pPr>
            <a:r>
              <a:rPr lang="en-US" sz="5300">
                <a:solidFill>
                  <a:srgbClr val="250542"/>
                </a:solidFill>
                <a:latin typeface="29LT Zarid Text"/>
              </a:rPr>
              <a:t>ssh server, </a:t>
            </a:r>
            <a:r>
              <a:rPr lang="en-US" sz="5300">
                <a:solidFill>
                  <a:srgbClr val="250542"/>
                </a:solidFill>
                <a:latin typeface="29LT Zarid Text"/>
              </a:rPr>
              <a:t>iptables, firewalls, web servers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95400"/>
            <a:ext cx="12461932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Recap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23744"/>
            <a:ext cx="8115300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Module 2 - Lecture 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108575"/>
            <a:ext cx="16636286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Advanced commands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95400"/>
            <a:ext cx="12461932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Learning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23744"/>
            <a:ext cx="8115300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Module 2 - Lecture 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98875"/>
            <a:ext cx="16636286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SSH server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Firewall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Iptables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web server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2471853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SSH Server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3085" y="2296792"/>
            <a:ext cx="16406215" cy="572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Stands for "Secure SHell"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 protocol to securely connect to a remote server/system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Transfers the data in encrypted form between the host and the client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runs at TCP/IP port 22</a:t>
            </a:r>
          </a:p>
          <a:p>
            <a:pPr>
              <a:lnSpc>
                <a:spcPts val="4520"/>
              </a:lnSpc>
            </a:pP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To install and run ssh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apt install openssh-server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systemctl status ssh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systemctl enable ssh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systemctl start ssh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10145" t="11746" r="12706" b="28842"/>
          <a:stretch>
            <a:fillRect/>
          </a:stretch>
        </p:blipFill>
        <p:spPr>
          <a:xfrm flipH="false" flipV="false" rot="0">
            <a:off x="2350448" y="4513914"/>
            <a:ext cx="13587104" cy="5231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802079"/>
            <a:ext cx="162306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Public Key Infrastructure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2220923"/>
            <a:ext cx="18288000" cy="229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It is a trust infrastructure that issues and manages digital, cryptographically secure credentials to devices. 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It provides integrity, authenticity, and protection of digital information and transactions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62306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Public Key Infrastructure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1371" y="2296792"/>
            <a:ext cx="16447929" cy="572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to generate public-private keys, use the command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ssh-keygen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this will create two keys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private key, stored in ~/.ssh/id_rsa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the public key, stored in ~/.ssh/id_rsa.pub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The private key must be kept secret, whereas the public key must be copied to the remote host in ~/.ssh/authorized_keys to access without a password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The first time a remote machine is accessed, the remote machine will automatically be saved in ~/.ssh/known_hosts on the client machine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2471853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SSH Server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3085" y="2011042"/>
            <a:ext cx="16406215" cy="629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ssh command consists mainly of 3 parts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'ssh' command</a:t>
            </a:r>
          </a:p>
          <a:p>
            <a:pPr marL="2591197" indent="-647799" lvl="3">
              <a:lnSpc>
                <a:spcPts val="4520"/>
              </a:lnSpc>
              <a:buFont typeface="Arial"/>
              <a:buChar char="￭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instructs the system to establish an encrypted secure connection with the host machine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'user_name'</a:t>
            </a:r>
          </a:p>
          <a:p>
            <a:pPr marL="2591197" indent="-647799" lvl="3">
              <a:lnSpc>
                <a:spcPts val="4520"/>
              </a:lnSpc>
              <a:buFont typeface="Arial"/>
              <a:buChar char="￭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the account that is being accessed on the host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'host'</a:t>
            </a:r>
          </a:p>
          <a:p>
            <a:pPr marL="2591197" indent="-647799" lvl="3">
              <a:lnSpc>
                <a:spcPts val="4520"/>
              </a:lnSpc>
              <a:buFont typeface="Arial"/>
              <a:buChar char="￭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refers to the machine which can be a router or a computer that is being accessed</a:t>
            </a:r>
          </a:p>
          <a:p>
            <a:pPr marL="2591197" indent="-647799" lvl="3">
              <a:lnSpc>
                <a:spcPts val="4520"/>
              </a:lnSpc>
              <a:buFont typeface="Arial"/>
              <a:buChar char="￭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it can be an IP address or domain name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After logging in, commands will work on the host (remote) machine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62306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SSH access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3085" y="2220923"/>
            <a:ext cx="16406215" cy="743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To access a remote host, use the command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ssh root@10.10.10.10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This will create a secure connection and access the machine at 10.10.10.10 with the root user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X11 Forwarding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ssh -X root@10.10.10.10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This will create a secure connection with X11 forwarding enabled, which means any application opened in the remote host will be forwarded to display on the local machine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Port Forwarding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ssh -L 63000:10.10.10.10:2365 root@10.10.10.11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port 63000 on the local machine, will access 10.10.10.11 and forward the data to port 2365 on 10.10.10.10 from there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494375" y="4465716"/>
            <a:ext cx="17123635" cy="6412969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802079"/>
            <a:ext cx="162306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Firewall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3085" y="2220923"/>
            <a:ext cx="16406215" cy="286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 network security system that monitors and controls the incoming and outgoing network traffic based on predefined rules.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It typically establishes a barrier between a trusted network and an untrusted network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 firewall can be a software firewall, hardware firewall, or both.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62306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Firewall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3085" y="3082390"/>
            <a:ext cx="16406215" cy="457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 Bold"/>
              </a:rPr>
              <a:t>Packet filtering</a:t>
            </a:r>
            <a:r>
              <a:rPr lang="en-US" sz="4000">
                <a:solidFill>
                  <a:srgbClr val="250542"/>
                </a:solidFill>
                <a:latin typeface="Vesper Libre Regular"/>
              </a:rPr>
              <a:t>: controls the flow of incoming and outgoing network data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 Bold"/>
              </a:rPr>
              <a:t>stateful inspection</a:t>
            </a:r>
            <a:r>
              <a:rPr lang="en-US" sz="4000">
                <a:solidFill>
                  <a:srgbClr val="250542"/>
                </a:solidFill>
                <a:latin typeface="Vesper Libre Regular"/>
              </a:rPr>
              <a:t>: determine which packets to allow through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 Bold"/>
              </a:rPr>
              <a:t>stateful multilayer inspection</a:t>
            </a:r>
            <a:r>
              <a:rPr lang="en-US" sz="4000">
                <a:solidFill>
                  <a:srgbClr val="250542"/>
                </a:solidFill>
                <a:latin typeface="Vesper Libre Regular"/>
              </a:rPr>
              <a:t>: a sophisticated form of packet filtering that examines all seven layers of the OSI model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 Bold"/>
              </a:rPr>
              <a:t>proxy firewall</a:t>
            </a:r>
            <a:r>
              <a:rPr lang="en-US" sz="4000">
                <a:solidFill>
                  <a:srgbClr val="250542"/>
                </a:solidFill>
                <a:latin typeface="Vesper Libre Regular"/>
              </a:rPr>
              <a:t>: gateway between internal users and the internet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 Bold"/>
              </a:rPr>
              <a:t>Network Address Translation (NAT) firewall</a:t>
            </a:r>
            <a:r>
              <a:rPr lang="en-US" sz="4000">
                <a:solidFill>
                  <a:srgbClr val="250542"/>
                </a:solidFill>
                <a:latin typeface="Vesper Libre Regular"/>
              </a:rPr>
              <a:t>: operates on a router to protect private networks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62306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Firewall - ufw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3767" y="2220923"/>
            <a:ext cx="16795533" cy="743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Ubuntu has its own firewall, known as the uncomplicated firewall, ufw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simplified process of configuring a firewall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install ufw using: sudo apt install ufw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Default configuration can be found at /etc/default/ufw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Setting up Default policies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default deny incoming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default allow outgoing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View the app list in ufw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app list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To enable ssh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allow OpenSSH            //by application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allow ssh                      //by service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allow 22                       //by port number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62306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Firewall - ufw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3767" y="2393310"/>
            <a:ext cx="16795533" cy="686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See the rules added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show added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after confirming the rules, enable the firewall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enable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to allow http / https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allow http / sudo ufw allow https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allow 80 / sudo ufw allow 443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Allow port range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allow 3000:3010/tcp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allow 3000:3010/udp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Allow IP addresses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allow from 159.203.81.49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62306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Firewall - ufw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3767" y="1960886"/>
            <a:ext cx="16795533" cy="800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Deny Connections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deny http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deny from 159.203.81.49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deny out 25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Delete UFW rule by number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status numbered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delete [number-of-the-rule]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delete by name, service or port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delete allow "Apache Full"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delete allow http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delete allow 80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Disable firewall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disable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ufw reset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62306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Firewall - Types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3085" y="3141753"/>
            <a:ext cx="16406215" cy="286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There are some types of firewalls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Web Application Firewall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Network Segmentation Firewall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Database Firewall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Next-generation Firewall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62306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Web Application Firewall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3085" y="3439792"/>
            <a:ext cx="16406215" cy="343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WAF protects web applications from application-layer attacks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based on a blocklist (negative security model) protects against known attacks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based on an allow list (positive security model) admits pre-approved traffic 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 hybrid model that has both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62306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Web Application Firewall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20923"/>
            <a:ext cx="16718506" cy="800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Network-based WAF is hardware-based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Most expensive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requires hardware maintenance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Host-based WAF may be fully integrated into an application's software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offers more customizability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consumption of local server resources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implementation complexity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maintenance cost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Cloud-based WAF like Cloudflare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affordable option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turnkey installation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Simple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third party solution may make some features of WAF blackbox for the user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5208326" y="4852530"/>
            <a:ext cx="7871347" cy="4964069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863673"/>
            <a:ext cx="16230600" cy="13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283"/>
              </a:lnSpc>
              <a:spcBef>
                <a:spcPct val="0"/>
              </a:spcBef>
            </a:pPr>
            <a:r>
              <a:rPr lang="en-US" sz="9100">
                <a:solidFill>
                  <a:srgbClr val="250542"/>
                </a:solidFill>
                <a:latin typeface="Vesper Libre Regular"/>
              </a:rPr>
              <a:t>Network Segmentation Firewall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20923"/>
            <a:ext cx="16718506" cy="229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The firewall is deployed at the desired network boundary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Architects the network via physical links, or Virtual Area Networks (VLANs)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Traffic that crosses the boundary is routed through the firewall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3556411" y="3660871"/>
            <a:ext cx="11175178" cy="6286038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863673"/>
            <a:ext cx="16230600" cy="13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283"/>
              </a:lnSpc>
              <a:spcBef>
                <a:spcPct val="0"/>
              </a:spcBef>
            </a:pPr>
            <a:r>
              <a:rPr lang="en-US" sz="9100">
                <a:solidFill>
                  <a:srgbClr val="250542"/>
                </a:solidFill>
                <a:latin typeface="Vesper Libre Regular"/>
              </a:rPr>
              <a:t>Database Firewall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0794" y="2220923"/>
            <a:ext cx="16718506" cy="114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Protects against database specific attacks that seek to access sensitive information stored in databases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3673"/>
            <a:ext cx="16230600" cy="13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283"/>
              </a:lnSpc>
              <a:spcBef>
                <a:spcPct val="0"/>
              </a:spcBef>
            </a:pPr>
            <a:r>
              <a:rPr lang="en-US" sz="9100">
                <a:solidFill>
                  <a:srgbClr val="250542"/>
                </a:solidFill>
                <a:latin typeface="Vesper Libre Regular"/>
              </a:rPr>
              <a:t>Next Generation Firewall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0794" y="2220923"/>
            <a:ext cx="16718506" cy="114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Provides the functionalities of a traditional firewall along-with blocking modern threats such as advanced malware and application layer attacks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791123" y="3584379"/>
            <a:ext cx="14705754" cy="69607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3673"/>
            <a:ext cx="16230600" cy="13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283"/>
              </a:lnSpc>
              <a:spcBef>
                <a:spcPct val="0"/>
              </a:spcBef>
            </a:pPr>
            <a:r>
              <a:rPr lang="en-US" sz="9100">
                <a:solidFill>
                  <a:srgbClr val="250542"/>
                </a:solidFill>
                <a:latin typeface="Vesper Libre Regular"/>
              </a:rPr>
              <a:t>IPtables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0794" y="2448813"/>
            <a:ext cx="16718506" cy="629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Used to set up and maintain tables for Netfilter firewall for IPv4.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Matches packets with rules defined in these tables, and take specified actions on a possible match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iptables have the following components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Tables: A set of chains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Chain: Collection of rules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Rule: Condition used to match the packet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Target: Action taken when a possible rule matches, values can be ACCEPT, DROP, QUEUE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Policy: default action taken in case of no match with inbuilt chains and can be ACCEPT or DROP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3673"/>
            <a:ext cx="16230600" cy="13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283"/>
              </a:lnSpc>
              <a:spcBef>
                <a:spcPct val="0"/>
              </a:spcBef>
            </a:pPr>
            <a:r>
              <a:rPr lang="en-US" sz="9100">
                <a:solidFill>
                  <a:srgbClr val="250542"/>
                </a:solidFill>
                <a:latin typeface="Vesper Libre Regular"/>
              </a:rPr>
              <a:t>IPtables - tables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0794" y="2492515"/>
            <a:ext cx="16718506" cy="743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filter: Default table for packet filtering, includes chains like INPUT, OUTPUT, and FORWARD</a:t>
            </a:r>
          </a:p>
          <a:p>
            <a:pPr>
              <a:lnSpc>
                <a:spcPts val="4520"/>
              </a:lnSpc>
            </a:pP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nat: related to Network Address Translation, includes PREROUTING and POSTROUTING chains</a:t>
            </a:r>
          </a:p>
          <a:p>
            <a:pPr>
              <a:lnSpc>
                <a:spcPts val="4520"/>
              </a:lnSpc>
            </a:pP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mangle: specialized packet alteration, Inbuilt chains include PREROUTING and OUTPUT</a:t>
            </a:r>
          </a:p>
          <a:p>
            <a:pPr>
              <a:lnSpc>
                <a:spcPts val="4520"/>
              </a:lnSpc>
            </a:pP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raw: configures exemptions from connection tracking. includes PREROUTING and OUTPUT</a:t>
            </a:r>
          </a:p>
          <a:p>
            <a:pPr>
              <a:lnSpc>
                <a:spcPts val="4520"/>
              </a:lnSpc>
            </a:pP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security: used for mandatory access control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3673"/>
            <a:ext cx="16230600" cy="13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283"/>
              </a:lnSpc>
              <a:spcBef>
                <a:spcPct val="0"/>
              </a:spcBef>
            </a:pPr>
            <a:r>
              <a:rPr lang="en-US" sz="9100">
                <a:solidFill>
                  <a:srgbClr val="250542"/>
                </a:solidFill>
                <a:latin typeface="Vesper Libre Regular"/>
              </a:rPr>
              <a:t>IPtables - chains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0794" y="3725542"/>
            <a:ext cx="16718506" cy="286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INPUT: a set of rules for packets destined to localhost sockets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FORWARD: for packets routed through the device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OUTPUT: for locally generated packets, meant to be transmitted outside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PREROUTING: for modifying packets as they arrive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POSTROUTING: for modifying packets as they are leaving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3673"/>
            <a:ext cx="16230600" cy="13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283"/>
              </a:lnSpc>
              <a:spcBef>
                <a:spcPct val="0"/>
              </a:spcBef>
            </a:pPr>
            <a:r>
              <a:rPr lang="en-US" sz="9100">
                <a:solidFill>
                  <a:srgbClr val="250542"/>
                </a:solidFill>
                <a:latin typeface="Vesper Libre Regular"/>
              </a:rPr>
              <a:t>IPtables - options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0794" y="2393310"/>
            <a:ext cx="16718506" cy="686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-A, --append: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append to the chain</a:t>
            </a:r>
          </a:p>
          <a:p>
            <a:pPr marL="2591197" indent="-647799" lvl="3">
              <a:lnSpc>
                <a:spcPts val="4520"/>
              </a:lnSpc>
              <a:buFont typeface="Arial"/>
              <a:buChar char="￭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iptables [-t table] -A [chain] [parameters]</a:t>
            </a:r>
          </a:p>
          <a:p>
            <a:pPr marL="2591197" indent="-647799" lvl="3">
              <a:lnSpc>
                <a:spcPts val="4520"/>
              </a:lnSpc>
              <a:buFont typeface="Arial"/>
              <a:buChar char="￭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iptables -t filter -A INPUT -j DROP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-D, --delete: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delete rule from specified chain</a:t>
            </a:r>
          </a:p>
          <a:p>
            <a:pPr marL="2591197" indent="-647799" lvl="3">
              <a:lnSpc>
                <a:spcPts val="4520"/>
              </a:lnSpc>
              <a:buFont typeface="Arial"/>
              <a:buChar char="￭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iptables [-t table] -D [chain] [rule_number]</a:t>
            </a:r>
          </a:p>
          <a:p>
            <a:pPr marL="2591197" indent="-647799" lvl="3">
              <a:lnSpc>
                <a:spcPts val="4520"/>
              </a:lnSpc>
              <a:buFont typeface="Arial"/>
              <a:buChar char="￭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iptables -t filter -D INPUT 2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-C, --check: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checks if a rule is present or not, returns 1 if it does, and 0 if doesn't</a:t>
            </a:r>
          </a:p>
          <a:p>
            <a:pPr marL="2591197" indent="-647799" lvl="3">
              <a:lnSpc>
                <a:spcPts val="4520"/>
              </a:lnSpc>
              <a:buFont typeface="Arial"/>
              <a:buChar char="￭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iptables [-t table] -C [chain] [parameters]</a:t>
            </a:r>
          </a:p>
          <a:p>
            <a:pPr marL="2591197" indent="-647799" lvl="3">
              <a:lnSpc>
                <a:spcPts val="4520"/>
              </a:lnSpc>
              <a:buFont typeface="Arial"/>
              <a:buChar char="￭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iptables -t filter -C INPUT -s 192.168.1.123 -j DROP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3673"/>
            <a:ext cx="16230600" cy="13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283"/>
              </a:lnSpc>
              <a:spcBef>
                <a:spcPct val="0"/>
              </a:spcBef>
            </a:pPr>
            <a:r>
              <a:rPr lang="en-US" sz="9100">
                <a:solidFill>
                  <a:srgbClr val="250542"/>
                </a:solidFill>
                <a:latin typeface="Vesper Libre Regular"/>
              </a:rPr>
              <a:t>IPtables - options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0794" y="2775527"/>
            <a:ext cx="16718506" cy="572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-L : List all the iptables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-F : </a:t>
            </a:r>
            <a:r>
              <a:rPr lang="en-US" sz="4000">
                <a:solidFill>
                  <a:srgbClr val="250542"/>
                </a:solidFill>
                <a:latin typeface="Vesper Libre Regular"/>
              </a:rPr>
              <a:t>Flush all the rules in all the chains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-p : a </a:t>
            </a:r>
            <a:r>
              <a:rPr lang="en-US" sz="4000">
                <a:solidFill>
                  <a:srgbClr val="250542"/>
                </a:solidFill>
                <a:latin typeface="Vesper Libre Regular"/>
              </a:rPr>
              <a:t>protocol that the packet follows, TCP, UDP, ssh, etc.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-s : </a:t>
            </a:r>
            <a:r>
              <a:rPr lang="en-US" sz="4000">
                <a:solidFill>
                  <a:srgbClr val="250542"/>
                </a:solidFill>
                <a:latin typeface="Vesper Libre Regular"/>
              </a:rPr>
              <a:t>to match the source address of the package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-d : </a:t>
            </a:r>
            <a:r>
              <a:rPr lang="en-US" sz="4000">
                <a:solidFill>
                  <a:srgbClr val="250542"/>
                </a:solidFill>
                <a:latin typeface="Vesper Libre Regular"/>
              </a:rPr>
              <a:t>to match the destination address of the package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-i : </a:t>
            </a:r>
            <a:r>
              <a:rPr lang="en-US" sz="4000">
                <a:solidFill>
                  <a:srgbClr val="250542"/>
                </a:solidFill>
                <a:latin typeface="Vesper Libre Regular"/>
              </a:rPr>
              <a:t>matches packet with specified in-interface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-o : </a:t>
            </a:r>
            <a:r>
              <a:rPr lang="en-US" sz="4000">
                <a:solidFill>
                  <a:srgbClr val="250542"/>
                </a:solidFill>
                <a:latin typeface="Vesper Libre Regular"/>
              </a:rPr>
              <a:t>matches packets specified out-interface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-j : </a:t>
            </a:r>
            <a:r>
              <a:rPr lang="en-US" sz="4000">
                <a:solidFill>
                  <a:srgbClr val="250542"/>
                </a:solidFill>
                <a:latin typeface="Vesper Libre Regular"/>
              </a:rPr>
              <a:t>specifies the action to be taken on a match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to save the iptables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sudo iptables-save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154345" y="4851560"/>
            <a:ext cx="13491405" cy="440674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863673"/>
            <a:ext cx="16230600" cy="13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283"/>
              </a:lnSpc>
              <a:spcBef>
                <a:spcPct val="0"/>
              </a:spcBef>
            </a:pPr>
            <a:r>
              <a:rPr lang="en-US" sz="9100">
                <a:solidFill>
                  <a:srgbClr val="250542"/>
                </a:solidFill>
                <a:latin typeface="Vesper Libre Regular"/>
              </a:rPr>
              <a:t>Web Server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0794" y="2634660"/>
            <a:ext cx="16718506" cy="172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Program that processes the network requests of users and serves the files that create web pages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This exchange is done using Hypertext Transfer Protocol (HTTP)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27856" y="3275619"/>
            <a:ext cx="4891430" cy="186788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7372078" y="4379460"/>
            <a:ext cx="3543844" cy="3543844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749675" y="6588309"/>
            <a:ext cx="4682031" cy="3507004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3291402" y="2031498"/>
            <a:ext cx="3873818" cy="3718866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12588556" y="6588309"/>
            <a:ext cx="2955830" cy="295583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28700" y="863673"/>
            <a:ext cx="16230600" cy="13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283"/>
              </a:lnSpc>
              <a:spcBef>
                <a:spcPct val="0"/>
              </a:spcBef>
            </a:pPr>
            <a:r>
              <a:rPr lang="en-US" sz="9100">
                <a:solidFill>
                  <a:srgbClr val="250542"/>
                </a:solidFill>
                <a:latin typeface="Vesper Libre Regular"/>
              </a:rPr>
              <a:t>Web Server - Examples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3673"/>
            <a:ext cx="16230600" cy="13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283"/>
              </a:lnSpc>
              <a:spcBef>
                <a:spcPct val="0"/>
              </a:spcBef>
            </a:pPr>
            <a:r>
              <a:rPr lang="en-US" sz="9100">
                <a:solidFill>
                  <a:srgbClr val="250542"/>
                </a:solidFill>
                <a:latin typeface="Vesper Libre Regular"/>
              </a:rPr>
              <a:t>Apache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0794" y="2582542"/>
            <a:ext cx="16718506" cy="515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An Open Source Web Server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used for Unix, Linux, Windows, and Solaris Platforms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Developed by Apache Group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initially released on 25 March 1999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Written in C and XML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Designed for web server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Follows Multithread approach to process client requests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dynamic content in web server itself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Performance for static content is lower that Nginx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367870" y="686086"/>
            <a:ext cx="4891430" cy="186788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3673"/>
            <a:ext cx="16230600" cy="13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283"/>
              </a:lnSpc>
              <a:spcBef>
                <a:spcPct val="0"/>
              </a:spcBef>
            </a:pPr>
            <a:r>
              <a:rPr lang="en-US" sz="9100">
                <a:solidFill>
                  <a:srgbClr val="250542"/>
                </a:solidFill>
                <a:latin typeface="Vesper Libre Regular"/>
              </a:rPr>
              <a:t>Nginx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0794" y="2964810"/>
            <a:ext cx="16718506" cy="629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 web server, also used for reverse proxy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for Linux and Unix like systems, does not completely support Windows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Developed by Nginx Inc. 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Initially released on 4 October 2004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Written in C language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designed for proxy server as well as web server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follows event driven approach to process client requests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Does not support provide dynamic content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Performance for static content is 2 times faster that Apache as it can run thousands of connections simultaneously, and uses less memory comparitively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4838506" y="612380"/>
            <a:ext cx="2420794" cy="242079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95400"/>
            <a:ext cx="12461932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Learning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23744"/>
            <a:ext cx="8115300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Module 2 - Lecture 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98875"/>
            <a:ext cx="16636286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SSH server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Firewall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Iptables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web server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95400"/>
            <a:ext cx="12461932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Next Lecture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74709"/>
            <a:ext cx="8115300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Module 3 - Lecture 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5857" y="3698875"/>
            <a:ext cx="16636286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Introduction to Cloud Interface</a:t>
            </a:r>
          </a:p>
          <a:p>
            <a:pPr algn="just" marL="1727205" indent="-575735" lvl="2">
              <a:lnSpc>
                <a:spcPts val="5600"/>
              </a:lnSpc>
              <a:buFont typeface="Arial"/>
              <a:buChar char="⚬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AWS</a:t>
            </a:r>
          </a:p>
          <a:p>
            <a:pPr algn="just" marL="1727205" indent="-575735" lvl="2">
              <a:lnSpc>
                <a:spcPts val="5600"/>
              </a:lnSpc>
              <a:buFont typeface="Arial"/>
              <a:buChar char="⚬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GCP</a:t>
            </a:r>
          </a:p>
          <a:p>
            <a:pPr algn="just" marL="1727205" indent="-575735" lvl="2">
              <a:lnSpc>
                <a:spcPts val="5600"/>
              </a:lnSpc>
              <a:buFont typeface="Arial"/>
              <a:buChar char="⚬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Azure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0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2131835" y="504814"/>
            <a:ext cx="13790991" cy="9102054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4898073" y="4287945"/>
            <a:ext cx="8404922" cy="1472586"/>
            <a:chOff x="0" y="0"/>
            <a:chExt cx="1302142" cy="228142"/>
          </a:xfrm>
        </p:grpSpPr>
        <p:sp>
          <p:nvSpPr>
            <p:cNvPr name="Freeform 4" id="4"/>
            <p:cNvSpPr/>
            <p:nvPr/>
          </p:nvSpPr>
          <p:spPr>
            <a:xfrm>
              <a:off x="0" y="0"/>
              <a:ext cx="1302142" cy="228142"/>
            </a:xfrm>
            <a:custGeom>
              <a:avLst/>
              <a:gdLst/>
              <a:ahLst/>
              <a:cxnLst/>
              <a:rect r="r" b="b" t="t" l="l"/>
              <a:pathLst>
                <a:path h="228142" w="1302142">
                  <a:moveTo>
                    <a:pt x="0" y="0"/>
                  </a:moveTo>
                  <a:lnTo>
                    <a:pt x="1302142" y="0"/>
                  </a:lnTo>
                  <a:lnTo>
                    <a:pt x="1302142" y="228142"/>
                  </a:lnTo>
                  <a:lnTo>
                    <a:pt x="0" y="228142"/>
                  </a:lnTo>
                  <a:close/>
                </a:path>
              </a:pathLst>
            </a:custGeom>
            <a:solidFill>
              <a:srgbClr val="2505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8128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9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4583619"/>
            <a:ext cx="16230600" cy="117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53"/>
              </a:lnSpc>
              <a:spcBef>
                <a:spcPct val="0"/>
              </a:spcBef>
            </a:pPr>
            <a:r>
              <a:rPr lang="en-US" sz="8100">
                <a:solidFill>
                  <a:srgbClr val="D9D9D9"/>
                </a:solidFill>
                <a:latin typeface="Vesper Libre Regular Bold"/>
              </a:rPr>
              <a:t>Ask Questions!!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DAE-aqgQd3s</dc:identifier>
  <dcterms:modified xsi:type="dcterms:W3CDTF">2011-08-01T06:04:30Z</dcterms:modified>
  <cp:revision>1</cp:revision>
  <dc:title>CSA-lecture 8</dc:title>
</cp:coreProperties>
</file>