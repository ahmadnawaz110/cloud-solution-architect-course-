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imes Neue Roman" charset="1" panose="00000500000000000000"/>
      <p:regular r:id="rId10"/>
    </p:embeddedFont>
    <p:embeddedFont>
      <p:font typeface="Times Neue Roman Bold" charset="1" panose="00000800000000000000"/>
      <p:regular r:id="rId11"/>
    </p:embeddedFont>
    <p:embeddedFont>
      <p:font typeface="Times Neue Roman Italics" charset="1" panose="00000500000000000000"/>
      <p:regular r:id="rId12"/>
    </p:embeddedFont>
    <p:embeddedFont>
      <p:font typeface="Times Neue Roman Bold Italics" charset="1" panose="00000800000000000000"/>
      <p:regular r:id="rId13"/>
    </p:embeddedFont>
    <p:embeddedFont>
      <p:font typeface="Vesper Libre Regular" charset="1" panose="00000500000000000000"/>
      <p:regular r:id="rId14"/>
    </p:embeddedFont>
    <p:embeddedFont>
      <p:font typeface="Vesper Libre Regular Bold" charset="1" panose="00000600000000000000"/>
      <p:regular r:id="rId15"/>
    </p:embeddedFont>
    <p:embeddedFont>
      <p:font typeface="29LT Zarid Text" charset="1" panose="00000500000000000000"/>
      <p:regular r:id="rId16"/>
    </p:embeddedFont>
    <p:embeddedFont>
      <p:font typeface="29LT Zarid Text Bold" charset="1" panose="00000800000000000000"/>
      <p:regular r:id="rId17"/>
    </p:embeddedFont>
    <p:embeddedFont>
      <p:font typeface="29LT Zarid Text Italics" charset="1" panose="00000500000000000000"/>
      <p:regular r:id="rId18"/>
    </p:embeddedFont>
    <p:embeddedFont>
      <p:font typeface="29LT Zarid Text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slides/slide1.xml" Type="http://schemas.openxmlformats.org/officeDocument/2006/relationships/slide"/><Relationship Id="rId21" Target="slides/slide2.xml" Type="http://schemas.openxmlformats.org/officeDocument/2006/relationships/slide"/><Relationship Id="rId22" Target="slides/slide3.xml" Type="http://schemas.openxmlformats.org/officeDocument/2006/relationships/slide"/><Relationship Id="rId23" Target="slides/slide4.xml" Type="http://schemas.openxmlformats.org/officeDocument/2006/relationships/slide"/><Relationship Id="rId24" Target="slides/slide5.xml" Type="http://schemas.openxmlformats.org/officeDocument/2006/relationships/slide"/><Relationship Id="rId25" Target="slides/slide6.xml" Type="http://schemas.openxmlformats.org/officeDocument/2006/relationships/slide"/><Relationship Id="rId26" Target="slides/slide7.xml" Type="http://schemas.openxmlformats.org/officeDocument/2006/relationships/slide"/><Relationship Id="rId27" Target="slides/slide8.xml" Type="http://schemas.openxmlformats.org/officeDocument/2006/relationships/slide"/><Relationship Id="rId28" Target="slides/slide9.xml" Type="http://schemas.openxmlformats.org/officeDocument/2006/relationships/slide"/><Relationship Id="rId29" Target="slides/slide10.xml" Type="http://schemas.openxmlformats.org/officeDocument/2006/relationships/slide"/><Relationship Id="rId3" Target="viewProps.xml" Type="http://schemas.openxmlformats.org/officeDocument/2006/relationships/viewProps"/><Relationship Id="rId30" Target="slides/slide11.xml" Type="http://schemas.openxmlformats.org/officeDocument/2006/relationships/slide"/><Relationship Id="rId31" Target="slides/slide12.xml" Type="http://schemas.openxmlformats.org/officeDocument/2006/relationships/slide"/><Relationship Id="rId32" Target="slides/slide13.xml" Type="http://schemas.openxmlformats.org/officeDocument/2006/relationships/slide"/><Relationship Id="rId33" Target="slides/slide14.xml" Type="http://schemas.openxmlformats.org/officeDocument/2006/relationships/slide"/><Relationship Id="rId34" Target="slides/slide15.xml" Type="http://schemas.openxmlformats.org/officeDocument/2006/relationships/slide"/><Relationship Id="rId35" Target="slides/slide16.xml" Type="http://schemas.openxmlformats.org/officeDocument/2006/relationships/slide"/><Relationship Id="rId36" Target="slides/slide17.xml" Type="http://schemas.openxmlformats.org/officeDocument/2006/relationships/slide"/><Relationship Id="rId37" Target="slides/slide18.xml" Type="http://schemas.openxmlformats.org/officeDocument/2006/relationships/slide"/><Relationship Id="rId38" Target="slides/slide19.xml" Type="http://schemas.openxmlformats.org/officeDocument/2006/relationships/slide"/><Relationship Id="rId39" Target="slides/slide20.xml" Type="http://schemas.openxmlformats.org/officeDocument/2006/relationships/slide"/><Relationship Id="rId4" Target="theme/theme1.xml" Type="http://schemas.openxmlformats.org/officeDocument/2006/relationships/theme"/><Relationship Id="rId40" Target="slides/slide21.xml" Type="http://schemas.openxmlformats.org/officeDocument/2006/relationships/slide"/><Relationship Id="rId41" Target="slides/slide22.xml" Type="http://schemas.openxmlformats.org/officeDocument/2006/relationships/slide"/><Relationship Id="rId42" Target="slides/slide23.xml" Type="http://schemas.openxmlformats.org/officeDocument/2006/relationships/slide"/><Relationship Id="rId43" Target="slides/slide24.xml" Type="http://schemas.openxmlformats.org/officeDocument/2006/relationships/slide"/><Relationship Id="rId44" Target="slides/slide25.xml" Type="http://schemas.openxmlformats.org/officeDocument/2006/relationships/slide"/><Relationship Id="rId45" Target="slides/slide26.xml" Type="http://schemas.openxmlformats.org/officeDocument/2006/relationships/slide"/><Relationship Id="rId46" Target="slides/slide27.xml" Type="http://schemas.openxmlformats.org/officeDocument/2006/relationships/slide"/><Relationship Id="rId47" Target="slides/slide28.xml" Type="http://schemas.openxmlformats.org/officeDocument/2006/relationships/slide"/><Relationship Id="rId48" Target="slides/slide29.xml" Type="http://schemas.openxmlformats.org/officeDocument/2006/relationships/slide"/><Relationship Id="rId49" Target="slides/slide30.xml" Type="http://schemas.openxmlformats.org/officeDocument/2006/relationships/slide"/><Relationship Id="rId5" Target="tableStyles.xml" Type="http://schemas.openxmlformats.org/officeDocument/2006/relationships/tableStyles"/><Relationship Id="rId50" Target="slides/slide31.xml" Type="http://schemas.openxmlformats.org/officeDocument/2006/relationships/slide"/><Relationship Id="rId51" Target="slides/slide32.xml" Type="http://schemas.openxmlformats.org/officeDocument/2006/relationships/slide"/><Relationship Id="rId52" Target="slides/slide33.xml" Type="http://schemas.openxmlformats.org/officeDocument/2006/relationships/slide"/><Relationship Id="rId53" Target="slides/slide34.xml" Type="http://schemas.openxmlformats.org/officeDocument/2006/relationships/slide"/><Relationship Id="rId54" Target="slides/slide35.xml" Type="http://schemas.openxmlformats.org/officeDocument/2006/relationships/slide"/><Relationship Id="rId55" Target="slides/slide36.xml" Type="http://schemas.openxmlformats.org/officeDocument/2006/relationships/slide"/><Relationship Id="rId56" Target="slides/slide37.xml" Type="http://schemas.openxmlformats.org/officeDocument/2006/relationships/slide"/><Relationship Id="rId57" Target="slides/slide38.xml" Type="http://schemas.openxmlformats.org/officeDocument/2006/relationships/slide"/><Relationship Id="rId58" Target="slides/slide39.xml" Type="http://schemas.openxmlformats.org/officeDocument/2006/relationships/slide"/><Relationship Id="rId59" Target="slides/slide40.xml" Type="http://schemas.openxmlformats.org/officeDocument/2006/relationships/slide"/><Relationship Id="rId6" Target="fonts/font6.fntdata" Type="http://schemas.openxmlformats.org/officeDocument/2006/relationships/font"/><Relationship Id="rId60" Target="slides/slide41.xml" Type="http://schemas.openxmlformats.org/officeDocument/2006/relationships/slide"/><Relationship Id="rId61" Target="slides/slide42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223070" y="6297041"/>
            <a:ext cx="5380222" cy="359026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697355"/>
            <a:ext cx="13889942" cy="131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08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Solution Architect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4250" y="2953603"/>
            <a:ext cx="16105050" cy="516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Module 2</a:t>
            </a:r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Lecture 6</a:t>
            </a:r>
          </a:p>
          <a:p>
            <a:pPr>
              <a:lnSpc>
                <a:spcPts val="5774"/>
              </a:lnSpc>
            </a:pPr>
          </a:p>
          <a:p>
            <a:pPr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Linux User Permissions</a:t>
            </a:r>
          </a:p>
          <a:p>
            <a:pPr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Disk Partitions</a:t>
            </a:r>
          </a:p>
          <a:p>
            <a:pPr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LVM</a:t>
            </a:r>
          </a:p>
          <a:p>
            <a:pPr marL="0" indent="0" lvl="0"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run levels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81153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999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79208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Bourne-Again Shell (bash)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Linux Kernel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User Management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System Administration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014" y="4051300"/>
            <a:ext cx="16636286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Linux Permissions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Disk Partition / Logical Volume Management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Run levels / init / systemd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845972" y="6343683"/>
            <a:ext cx="6596056" cy="351218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8215" y="709868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462" y="2766887"/>
            <a:ext cx="16556838" cy="32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User (u): Owner of the file or directory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Group (g): Group of users added to have similar permissions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Others (o): anyone else other than owner and the group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9564" y="3237595"/>
            <a:ext cx="16556838" cy="38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Read (r): Read the contents of a file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Write (w)</a:t>
            </a:r>
            <a:r>
              <a:rPr lang="en-US" sz="4489">
                <a:solidFill>
                  <a:srgbClr val="250542"/>
                </a:solidFill>
                <a:latin typeface="Vesper Libre Regular"/>
              </a:rPr>
              <a:t>: Write and edit the contents of a file or a directory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Execute (x)</a:t>
            </a:r>
            <a:r>
              <a:rPr lang="en-US" sz="4489">
                <a:solidFill>
                  <a:srgbClr val="250542"/>
                </a:solidFill>
                <a:latin typeface="Vesper Libre Regular"/>
              </a:rPr>
              <a:t>: Execute a program that is written in a file or directory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2462" y="3556683"/>
            <a:ext cx="16556838" cy="320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Read has value 4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Write has value 2</a:t>
            </a:r>
          </a:p>
          <a:p>
            <a:pPr>
              <a:lnSpc>
                <a:spcPts val="5072"/>
              </a:lnSpc>
            </a:pP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Execute has value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Types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9407" y="2617637"/>
            <a:ext cx="13994527" cy="343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599" indent="-431800" lvl="1">
              <a:lnSpc>
                <a:spcPts val="4519"/>
              </a:lnSpc>
              <a:buFont typeface="Arial"/>
              <a:buChar char="•"/>
            </a:pPr>
            <a:r>
              <a:rPr lang="en-US" sz="3999">
                <a:solidFill>
                  <a:srgbClr val="250542"/>
                </a:solidFill>
                <a:latin typeface="Vesper Libre Regular"/>
              </a:rPr>
              <a:t>10 characters in Linux Permission String (output of ls -al)</a:t>
            </a:r>
          </a:p>
          <a:p>
            <a:pPr marL="1727199" indent="-575733" lvl="2">
              <a:lnSpc>
                <a:spcPts val="4519"/>
              </a:lnSpc>
              <a:buFont typeface="Arial"/>
              <a:buChar char="⚬"/>
            </a:pPr>
            <a:r>
              <a:rPr lang="en-US" sz="3999">
                <a:solidFill>
                  <a:srgbClr val="250542"/>
                </a:solidFill>
                <a:latin typeface="Vesper Libre Regular"/>
              </a:rPr>
              <a:t>First Character is the type of the file, </a:t>
            </a:r>
          </a:p>
          <a:p>
            <a:pPr marL="1727199" indent="-575733" lvl="2">
              <a:lnSpc>
                <a:spcPts val="4519"/>
              </a:lnSpc>
              <a:buFont typeface="Arial"/>
              <a:buChar char="⚬"/>
            </a:pPr>
            <a:r>
              <a:rPr lang="en-US" sz="3999">
                <a:solidFill>
                  <a:srgbClr val="250542"/>
                </a:solidFill>
                <a:latin typeface="Vesper Libre Regular"/>
              </a:rPr>
              <a:t>The first three characters of the remaining nine characters are permissions for the user</a:t>
            </a:r>
          </a:p>
          <a:p>
            <a:pPr marL="1727199" indent="-575733" lvl="2">
              <a:lnSpc>
                <a:spcPts val="4519"/>
              </a:lnSpc>
              <a:buFont typeface="Arial"/>
              <a:buChar char="⚬"/>
            </a:pPr>
            <a:r>
              <a:rPr lang="en-US" sz="3999">
                <a:solidFill>
                  <a:srgbClr val="250542"/>
                </a:solidFill>
                <a:latin typeface="Vesper Libre Regular"/>
              </a:rPr>
              <a:t>The middle three characters are permissions for group</a:t>
            </a:r>
          </a:p>
          <a:p>
            <a:pPr marL="1727199" indent="-575733" lvl="2">
              <a:lnSpc>
                <a:spcPts val="4519"/>
              </a:lnSpc>
              <a:buFont typeface="Arial"/>
              <a:buChar char="⚬"/>
            </a:pPr>
            <a:r>
              <a:rPr lang="en-US" sz="3999">
                <a:solidFill>
                  <a:srgbClr val="250542"/>
                </a:solidFill>
                <a:latin typeface="Vesper Libre Regular"/>
              </a:rPr>
              <a:t>Last three characters are permissions for others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536411" y="6834153"/>
            <a:ext cx="7215177" cy="277506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String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189720" y="2661758"/>
            <a:ext cx="5908560" cy="659654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Matrix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Symbolic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5581" y="2865215"/>
            <a:ext cx="16556838" cy="639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User =&gt; u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Group =&gt; g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Others =&gt; o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All =&gt; a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read =&gt; r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write =&gt; w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execute =&gt; x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+ =&gt; add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- =&gt; remove</a:t>
            </a:r>
          </a:p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= =&gt; set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71245" y="2100137"/>
            <a:ext cx="14533477" cy="786642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Linux permission Symbolic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752" r="0" b="59964"/>
          <a:stretch>
            <a:fillRect/>
          </a:stretch>
        </p:blipFill>
        <p:spPr>
          <a:xfrm flipH="false" flipV="false" rot="0">
            <a:off x="2080371" y="5748739"/>
            <a:ext cx="13454813" cy="350956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chmod - Change Mode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462" y="2579465"/>
            <a:ext cx="16556838" cy="256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chmod command is used to change the permissions of a file or directory</a:t>
            </a:r>
          </a:p>
          <a:p>
            <a:pPr marL="1938469" indent="-646156" lvl="2">
              <a:lnSpc>
                <a:spcPts val="5072"/>
              </a:lnSpc>
              <a:buFont typeface="Arial"/>
              <a:buChar char="⚬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chmod [permissions] [filename]</a:t>
            </a:r>
          </a:p>
          <a:p>
            <a:pPr marL="1938469" indent="-646156" lvl="2">
              <a:lnSpc>
                <a:spcPts val="5072"/>
              </a:lnSpc>
              <a:buFont typeface="Arial"/>
              <a:buChar char="⚬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chmod -R [permissions] [directoryname]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chown - Change Ownership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2462" y="2579465"/>
            <a:ext cx="16556838" cy="256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69234" indent="-484617" lvl="1">
              <a:lnSpc>
                <a:spcPts val="5072"/>
              </a:lnSpc>
              <a:buFont typeface="Arial"/>
              <a:buChar char="•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chown command is used to change the ownership of a file or directory</a:t>
            </a:r>
          </a:p>
          <a:p>
            <a:pPr marL="1938469" indent="-646156" lvl="2">
              <a:lnSpc>
                <a:spcPts val="5072"/>
              </a:lnSpc>
              <a:buFont typeface="Arial"/>
              <a:buChar char="⚬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chown [user:group] [filename]</a:t>
            </a:r>
          </a:p>
          <a:p>
            <a:pPr marL="1938469" indent="-646156" lvl="2">
              <a:lnSpc>
                <a:spcPts val="5072"/>
              </a:lnSpc>
              <a:buFont typeface="Arial"/>
              <a:buChar char="⚬"/>
            </a:pPr>
            <a:r>
              <a:rPr lang="en-US" sz="4489">
                <a:solidFill>
                  <a:srgbClr val="250542"/>
                </a:solidFill>
                <a:latin typeface="Vesper Libre Regular"/>
              </a:rPr>
              <a:t>chown -R [user:group] [directoryname]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774888" y="2306069"/>
            <a:ext cx="13682307" cy="735332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8215" y="709868"/>
            <a:ext cx="15399538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chown - Change Ownership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Disk Partition - Linux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1715" y="3154042"/>
            <a:ext cx="16487585" cy="40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Creation of one or more regions on secondary storage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Created to manage regions separately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first step of preparing a newly installed disk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Done before creating file system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622685" y="5541796"/>
            <a:ext cx="6636615" cy="371650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Disk Partition - Linux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1715" y="2279010"/>
            <a:ext cx="16487585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data partition: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 normal Linux system data, including the root partition containing all data to start up and run the system</a:t>
            </a:r>
          </a:p>
          <a:p>
            <a:pPr>
              <a:lnSpc>
                <a:spcPts val="4520"/>
              </a:lnSpc>
            </a:pP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swap partition:</a:t>
            </a:r>
            <a:r>
              <a:rPr lang="en-US" sz="4000">
                <a:solidFill>
                  <a:srgbClr val="250542"/>
                </a:solidFill>
                <a:latin typeface="Vesper Libre Regular"/>
              </a:rPr>
              <a:t> expansion of computer's physical memory, extra memory on hard disk.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parted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2288535"/>
            <a:ext cx="17806061" cy="657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sudo parted -l        //list the devices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list contain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model of the storgae device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Name and size of the disk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logical and physical size of the disk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Type of partition table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information about size, type, file system, and flags</a:t>
            </a:r>
          </a:p>
          <a:p>
            <a:pPr>
              <a:lnSpc>
                <a:spcPts val="5197"/>
              </a:lnSpc>
            </a:pP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Select disk that needs to be partitioned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 sudo fdisk /dev/sdb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parted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2288535"/>
            <a:ext cx="17806061" cy="723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if not selected the right disk, use the 'select' command in parted interface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mklabel gpt    //select the partition table as shown in parted -l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'print' to confirm the selection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mkpart primary ext4 1MB 1855MB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This will create a primary partition of 1854 MB with an ext4 file system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 can be 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primary: Hold OS files. Max 4 partitions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extended: Special partitions, can be more than 4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logical: Partition inside extended partition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fdisk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1715" y="2288535"/>
            <a:ext cx="16487585" cy="591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creating and manipulating disk partition table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 functions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view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create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delete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change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resize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copy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move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fdisk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2288535"/>
            <a:ext cx="17806061" cy="723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fdisk -l                           //list the partition table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fdisk -l /dev/sdb            //specific disk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fdisk /dev/sdb                //to open command interface for fdisk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                             //list the fdisk commands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                              //print the partition table for specific disk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d                              //delete partition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w                             //write the partition table after changes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n                             //new partition</a:t>
            </a:r>
          </a:p>
          <a:p>
            <a:pPr marL="2979418" indent="-744855" lvl="3">
              <a:lnSpc>
                <a:spcPts val="5197"/>
              </a:lnSpc>
              <a:buFont typeface="Arial"/>
              <a:buChar char="￭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                       //primary</a:t>
            </a:r>
          </a:p>
          <a:p>
            <a:pPr marL="2979418" indent="-744855" lvl="3">
              <a:lnSpc>
                <a:spcPts val="5197"/>
              </a:lnSpc>
              <a:buFont typeface="Arial"/>
              <a:buChar char="￭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                       //extended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fdisk -s partition          //check size of a partition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fdisk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2288535"/>
            <a:ext cx="17806061" cy="591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Format partition when created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mkfs.ext4 newly-created-partition</a:t>
            </a:r>
          </a:p>
          <a:p>
            <a:pPr>
              <a:lnSpc>
                <a:spcPts val="5197"/>
              </a:lnSpc>
            </a:pPr>
          </a:p>
          <a:p>
            <a:pPr>
              <a:lnSpc>
                <a:spcPts val="5197"/>
              </a:lnSpc>
            </a:pP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Partition: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physical subset of a disk</a:t>
            </a:r>
          </a:p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filesystem: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logical hierarchy of directories and files</a:t>
            </a:r>
          </a:p>
          <a:p>
            <a:pPr>
              <a:lnSpc>
                <a:spcPts val="5197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File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3070928"/>
            <a:ext cx="16777361" cy="526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NTFS (New Technology File System)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 can extend upto 16EB (16 million TB)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Files stored can be as large as the partition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ocassionally becomes fragemented and should be defragmented every one to two months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read from and write to Windows and linux, whereas read from MacOS X. However, can written using NTFS-3G driver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File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3070928"/>
            <a:ext cx="16777361" cy="517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FAT (File Allocation Table)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Cannot exceed 2TB </a:t>
            </a:r>
          </a:p>
          <a:p>
            <a:pPr marL="2590808" indent="-647702" lvl="3">
              <a:lnSpc>
                <a:spcPts val="4520"/>
              </a:lnSpc>
              <a:buFont typeface="Arial"/>
              <a:buChar char="￭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(Windows cannot form larger than 32GB, Mac OS X can)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partitions larger than 32GB are not recommended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Files stored cannot exceed 4GB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need to be defragmented often to maintain reasonable performance</a:t>
            </a:r>
          </a:p>
          <a:p>
            <a:pPr>
              <a:lnSpc>
                <a:spcPts val="5197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File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3070928"/>
            <a:ext cx="16777361" cy="460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exFAT (Extended File Allocation Table)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partitions can extend up extremely large, max 512TiB (Tebibyte)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Files up to 16EiB can be stored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not compatible with Linux/Unix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should be defragmented often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cannot pre-allocate disk space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File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3070928"/>
            <a:ext cx="16777361" cy="460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HFS Plus (Hierarchical File System)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Max Volume is 8EB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Files can be as large as the partition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Windows users can read but not write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Drivers are available that allows Linux users to read and write in HFS+ volumes.</a:t>
            </a:r>
          </a:p>
          <a:p>
            <a:pPr>
              <a:lnSpc>
                <a:spcPts val="5197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5360" y="725525"/>
            <a:ext cx="12471853" cy="129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170"/>
              </a:lnSpc>
              <a:spcBef>
                <a:spcPct val="0"/>
              </a:spcBef>
            </a:pPr>
            <a:r>
              <a:rPr lang="en-US" sz="9000">
                <a:solidFill>
                  <a:srgbClr val="250542"/>
                </a:solidFill>
                <a:latin typeface="Vesper Libre Regular"/>
              </a:rPr>
              <a:t>File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1939" y="3070928"/>
            <a:ext cx="16777361" cy="591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93139" indent="-496570" lvl="1">
              <a:lnSpc>
                <a:spcPts val="5197"/>
              </a:lnSpc>
              <a:buFont typeface="Arial"/>
              <a:buChar char="•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EXT (extended file system)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was created to be used with the Linux kernel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ext4 is the most recent version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max volume up to 1 EiB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16 TB max file size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XFS is recommended by RedHat for voluume over 100TB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ext4 is backward compatible with ext3 and ext2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can preallocate space</a:t>
            </a:r>
          </a:p>
          <a:p>
            <a:pPr marL="1986279" indent="-662093" lvl="2">
              <a:lnSpc>
                <a:spcPts val="5197"/>
              </a:lnSpc>
              <a:buFont typeface="Arial"/>
              <a:buChar char="⚬"/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windows and mac OS cannot read ext file system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9930" y="1419728"/>
            <a:ext cx="15535201" cy="127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944"/>
              </a:lnSpc>
              <a:spcBef>
                <a:spcPct val="0"/>
              </a:spcBef>
            </a:pPr>
            <a:r>
              <a:rPr lang="en-US" sz="8800">
                <a:solidFill>
                  <a:srgbClr val="250542"/>
                </a:solidFill>
                <a:latin typeface="Vesper Libre Regular"/>
              </a:rPr>
              <a:t>Logical Volume Manager (LVM)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6355" y="3391379"/>
            <a:ext cx="15765576" cy="361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Logical Volume Manager or LVM </a:t>
            </a:r>
          </a:p>
          <a:p>
            <a:pPr algn="l"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A </a:t>
            </a:r>
            <a:r>
              <a:rPr lang="en-US" sz="4200">
                <a:solidFill>
                  <a:srgbClr val="250542"/>
                </a:solidFill>
                <a:latin typeface="Vesper Libre Regular"/>
              </a:rPr>
              <a:t>method of flexible disk space management</a:t>
            </a:r>
          </a:p>
          <a:p>
            <a:pPr algn="just"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Ability to add disk space to a logical volume and its filesystem while the filesystem is mounted and active.</a:t>
            </a:r>
          </a:p>
          <a:p>
            <a:pPr algn="just"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Allows multiple physical hard drives into a single volume group</a:t>
            </a:r>
          </a:p>
          <a:p>
            <a:pPr algn="just"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Volume groups  can be partitioned into logical volumes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9930" y="1419728"/>
            <a:ext cx="15535201" cy="127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944"/>
              </a:lnSpc>
              <a:spcBef>
                <a:spcPct val="0"/>
              </a:spcBef>
            </a:pPr>
            <a:r>
              <a:rPr lang="en-US" sz="8800">
                <a:solidFill>
                  <a:srgbClr val="250542"/>
                </a:solidFill>
                <a:latin typeface="Vesper Libre Regular"/>
              </a:rPr>
              <a:t>Logical Volume Manager (LVM)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579" y="2898761"/>
            <a:ext cx="17336361" cy="601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commands</a:t>
            </a:r>
          </a:p>
          <a:p>
            <a:pPr marL="1813822" indent="-604607" lvl="2">
              <a:lnSpc>
                <a:spcPts val="4746"/>
              </a:lnSpc>
              <a:buFont typeface="Arial"/>
              <a:buChar char="⚬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fdisk -l         //disk partition information</a:t>
            </a:r>
          </a:p>
          <a:p>
            <a:pPr marL="1813822" indent="-604607" lvl="2">
              <a:lnSpc>
                <a:spcPts val="4746"/>
              </a:lnSpc>
              <a:buFont typeface="Arial"/>
              <a:buChar char="⚬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pvs               //physical volumes information</a:t>
            </a:r>
          </a:p>
          <a:p>
            <a:pPr marL="1813822" indent="-604607" lvl="2">
              <a:lnSpc>
                <a:spcPts val="4746"/>
              </a:lnSpc>
              <a:buFont typeface="Arial"/>
              <a:buChar char="⚬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vgs               //volume group information</a:t>
            </a:r>
          </a:p>
          <a:p>
            <a:pPr marL="1813822" indent="-604607" lvl="2">
              <a:lnSpc>
                <a:spcPts val="4746"/>
              </a:lnSpc>
              <a:buFont typeface="Arial"/>
              <a:buChar char="⚬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lvs                //logical volume information</a:t>
            </a:r>
          </a:p>
          <a:p>
            <a:pPr marL="1813822" indent="-604607" lvl="2">
              <a:lnSpc>
                <a:spcPts val="4746"/>
              </a:lnSpc>
              <a:buFont typeface="Arial"/>
              <a:buChar char="⚬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lsblk             //available block devices</a:t>
            </a:r>
          </a:p>
          <a:p>
            <a:pPr>
              <a:lnSpc>
                <a:spcPts val="4746"/>
              </a:lnSpc>
            </a:pPr>
          </a:p>
          <a:p>
            <a:pPr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pvcreate newdisk    //to add disk</a:t>
            </a:r>
          </a:p>
          <a:p>
            <a:pPr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vgextend vg_name newdisk //add added disk to Volume Group</a:t>
            </a:r>
          </a:p>
          <a:p>
            <a:pPr algn="l" marL="906911" indent="-453456" lvl="1">
              <a:lnSpc>
                <a:spcPts val="4746"/>
              </a:lnSpc>
              <a:buFont typeface="Arial"/>
              <a:buChar char="•"/>
            </a:pPr>
            <a:r>
              <a:rPr lang="en-US" sz="4200">
                <a:solidFill>
                  <a:srgbClr val="250542"/>
                </a:solidFill>
                <a:latin typeface="Vesper Libre Regular"/>
              </a:rPr>
              <a:t>lvextend -l +100%FREE vg_name  //create logical volume on free space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1351" r="0" b="135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722371"/>
            <a:ext cx="10846157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Init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7524" y="2236465"/>
            <a:ext cx="16131203" cy="702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Stands for Initialization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The first process started during the booting of the computer system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daemon process that continues running until the system is shutdown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A direct or indirect ancestor of all other processes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automatically adopts all orphaned processes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PID or Process ID is 1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create processes from a script stored in /etc/inittab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configuration file used by initialization system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last step of kernel boot sequence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095375"/>
            <a:ext cx="10846157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Init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1389" y="4204332"/>
            <a:ext cx="16131203" cy="25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Init script initializes the service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responsible for initializing the system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init scripts are also called rc scripts (run command scripts)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Also used in UNIX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095375"/>
            <a:ext cx="10846157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Init -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6212"/>
            <a:ext cx="15919047" cy="628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Start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start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Stop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stop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restart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restart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reload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reload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status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status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095375"/>
            <a:ext cx="10846157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Init -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6212"/>
            <a:ext cx="15919047" cy="628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Restart service if already running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service [service-name] condrestart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enable service at startup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chkconfig [service-name] on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disable service at startup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chkconfig [service-name] off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check if service is enabled at startup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chkconfig [service-name] 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create new service file or modify configuration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chkconfig [service-name] add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105000"/>
            <a:ext cx="14902089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Run-levels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511" y="4181986"/>
            <a:ext cx="16420978" cy="319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State of init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group of processes are defined to start at the startup of OS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Mode of operation in the computer operating system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Each run level has a certain number of services started or stopped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105000"/>
            <a:ext cx="14902089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Run-levels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322" y="3252697"/>
            <a:ext cx="16420978" cy="510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Seven Run levels exist ($ runlevel digit or $ init digit)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0: Shuts down the system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1: single-user mode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2: multi-user mode without networking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3: multi-user mode with networking (with CLI)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4: user-definable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5: multi-user mode with networking (with GUI)</a:t>
            </a:r>
          </a:p>
          <a:p>
            <a:pPr algn="just" marL="1943359" indent="-647786" lvl="2">
              <a:lnSpc>
                <a:spcPts val="5085"/>
              </a:lnSpc>
              <a:buFont typeface="Arial"/>
              <a:buChar char="⚬"/>
            </a:pPr>
            <a:r>
              <a:rPr lang="en-US" sz="4500">
                <a:solidFill>
                  <a:srgbClr val="250542"/>
                </a:solidFill>
                <a:latin typeface="Arimo"/>
              </a:rPr>
              <a:t>6: reboots the system to restart it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007" y="1105000"/>
            <a:ext cx="14902089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Run-levels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322" y="3566157"/>
            <a:ext cx="16420978" cy="319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By default, Linux based systems boot on runlevel 3 or 5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user can modify preset runlevels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create new ones according to the requirements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Runlevel 2 and 4 are used for user defined runlevels</a:t>
            </a:r>
          </a:p>
          <a:p>
            <a:pPr algn="just" marL="971680" indent="-485840" lvl="1">
              <a:lnSpc>
                <a:spcPts val="5085"/>
              </a:lnSpc>
              <a:buFont typeface="Arial"/>
              <a:buChar char="•"/>
            </a:pPr>
            <a:r>
              <a:rPr lang="en-US" sz="4500">
                <a:solidFill>
                  <a:srgbClr val="250542"/>
                </a:solidFill>
                <a:latin typeface="Vesper Libre Regular"/>
              </a:rPr>
              <a:t>runlevel 0 and 6 aur used for shutdown and reboot the system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8099" y="1104900"/>
            <a:ext cx="14495271" cy="159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2429"/>
              </a:lnSpc>
              <a:spcBef>
                <a:spcPct val="0"/>
              </a:spcBef>
            </a:pPr>
            <a:r>
              <a:rPr lang="en-US" sz="10999">
                <a:solidFill>
                  <a:srgbClr val="250542"/>
                </a:solidFill>
                <a:latin typeface="Vesper Libre Regular"/>
              </a:rPr>
              <a:t>Systemd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6212"/>
            <a:ext cx="15919047" cy="691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Systemd is the new init framework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 and service manager for Linux operating systems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new distros are moving to systemd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managing services with systemd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systemctl: control system and services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journalctl: manage journal, systemd's logging system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hostnamectl: control hostname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localectl: configure locale and keyboard layout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timedatectl: set time and date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systemd-cgls: shows cgroup contents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systemadm: front-end for systemctl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8099" y="1104900"/>
            <a:ext cx="14495271" cy="159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2429"/>
              </a:lnSpc>
              <a:spcBef>
                <a:spcPct val="0"/>
              </a:spcBef>
            </a:pPr>
            <a:r>
              <a:rPr lang="en-US" sz="10999">
                <a:solidFill>
                  <a:srgbClr val="250542"/>
                </a:solidFill>
                <a:latin typeface="Vesper Libre Regular"/>
              </a:rPr>
              <a:t>Systemd -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6212"/>
            <a:ext cx="15919047" cy="628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see all services (running or not)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list-units --type service --all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Start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start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Stop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stop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restart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restart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reload a service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reload [service-name]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8099" y="1104900"/>
            <a:ext cx="14495271" cy="159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2429"/>
              </a:lnSpc>
              <a:spcBef>
                <a:spcPct val="0"/>
              </a:spcBef>
            </a:pPr>
            <a:r>
              <a:rPr lang="en-US" sz="10999">
                <a:solidFill>
                  <a:srgbClr val="250542"/>
                </a:solidFill>
                <a:latin typeface="Vesper Libre Regular"/>
              </a:rPr>
              <a:t>Systemd -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36212"/>
            <a:ext cx="15919047" cy="628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see service status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status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Restart a service if already running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condrestart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Enable service at startup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enable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Disable service at startup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disable [service-name]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check if service is enable at start up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is-enabled [service-name]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8099" y="1104900"/>
            <a:ext cx="14495271" cy="159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2429"/>
              </a:lnSpc>
              <a:spcBef>
                <a:spcPct val="0"/>
              </a:spcBef>
            </a:pPr>
            <a:r>
              <a:rPr lang="en-US" sz="10999">
                <a:solidFill>
                  <a:srgbClr val="250542"/>
                </a:solidFill>
                <a:latin typeface="Vesper Libre Regular"/>
              </a:rPr>
              <a:t>Systemd -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15763"/>
            <a:ext cx="15919047" cy="314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create new serivce file or modify configuration</a:t>
            </a:r>
          </a:p>
          <a:p>
            <a:pPr marL="1900180" indent="-633393" lvl="2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daemon-reload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halt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poweroff</a:t>
            </a:r>
          </a:p>
          <a:p>
            <a:pPr marL="950090" indent="-475045" lvl="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systemctl reboot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3014" y="4051300"/>
            <a:ext cx="16636286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Linux Permissions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Disk Partition / Logical Volume Management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Run levels / init / systemd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Next Lecture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709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08575"/>
            <a:ext cx="166362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Advanced commands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0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898073" y="4287945"/>
            <a:ext cx="8404922" cy="1472586"/>
            <a:chOff x="0" y="0"/>
            <a:chExt cx="1302142" cy="228142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r="r" b="b" t="t" l="l"/>
              <a:pathLst>
                <a:path h="228142" w="1302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2505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583619"/>
            <a:ext cx="16230600" cy="117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FFFFFF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DAE-VM5rAVg</dc:identifier>
  <dcterms:modified xsi:type="dcterms:W3CDTF">2011-08-01T06:04:30Z</dcterms:modified>
  <cp:revision>1</cp:revision>
  <dc:title>CSA-lecture 6</dc:title>
</cp:coreProperties>
</file>